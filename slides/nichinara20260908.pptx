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1377D"/>
              </a:gs>
              <a:gs pos="100000">
                <a:srgbClr val="593FBF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4360"/>
            <a:ext cx="2697480" cy="8821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2514600" cy="6992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91840" y="1965960"/>
            <a:ext cx="55778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spc="40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C r e a t i n g   A   N e w   W o r l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61488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AIと20分で、</a:t>
            </a:r>
          </a:p>
          <a:p>
            <a:pPr>
              <a:lnSpc>
                <a:spcPct val="120000"/>
              </a:lnSpc>
            </a:pPr>
            <a:r>
              <a:rPr sz="50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日習のホームページを作る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4956048"/>
            <a:ext cx="55778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日本大学理工学部 応用情報工学科　教授　松野 裕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2026年9月8日　日本大学習志野高等学校 1学年 学部見学会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松野 裕（まつの ゆたか）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5852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  <a:spcBef>
                <a:spcPts val="600"/>
              </a:spcBef>
            </a:pPr>
            <a:r>
              <a:rPr sz="19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・プログラミング言語</a:t>
            </a:r>
          </a:p>
          <a:p>
            <a:pPr>
              <a:lnSpc>
                <a:spcPct val="190000"/>
              </a:lnSpc>
              <a:spcBef>
                <a:spcPts val="600"/>
              </a:spcBef>
            </a:pPr>
            <a:r>
              <a:rPr sz="19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・ソフトウェア工学</a:t>
            </a:r>
          </a:p>
          <a:p>
            <a:pPr>
              <a:lnSpc>
                <a:spcPct val="190000"/>
              </a:lnSpc>
              <a:spcBef>
                <a:spcPts val="600"/>
              </a:spcBef>
            </a:pPr>
            <a:r>
              <a:rPr sz="19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・システムの総合信頼性（Dependability）</a:t>
            </a:r>
          </a:p>
          <a:p>
            <a:pPr>
              <a:lnSpc>
                <a:spcPct val="170000"/>
              </a:lnSpc>
              <a:spcBef>
                <a:spcPts val="2200"/>
              </a:spcBef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ソフトウェアを、どうやって安心して使えるものにするか。</a:t>
            </a:r>
          </a:p>
          <a:p>
            <a:pPr>
              <a:lnSpc>
                <a:spcPct val="17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それを研究しています。</a:t>
            </a:r>
          </a:p>
        </p:txBody>
      </p:sp>
      <p:pic>
        <p:nvPicPr>
          <p:cNvPr id="10" name="Picture 9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2194560"/>
            <a:ext cx="26746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みなさんの学校と、同じキャンパスの中にあります。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船橋日大前駅から歩いて5分。日大習志野高校の校舎も、この地図の中にあります。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pic>
        <p:nvPicPr>
          <p:cNvPr id="10" name="Picture 9" descr="logo_cst_facul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548640"/>
            <a:ext cx="1737360" cy="438324"/>
          </a:xfrm>
          <a:prstGeom prst="rect">
            <a:avLst/>
          </a:prstGeom>
        </p:spPr>
      </p:pic>
      <p:pic>
        <p:nvPicPr>
          <p:cNvPr id="11" name="Picture 10" descr="campus_annota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850" y="2468880"/>
            <a:ext cx="566382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AIとIoTを組み合わせたソフトウェアものづくりを学ぶ。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応用情報工学科では、3つの分野を学びます。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60320"/>
            <a:ext cx="3419856" cy="347472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eld1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0"/>
            <a:ext cx="3419856" cy="1920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4480560"/>
            <a:ext cx="50800" cy="155448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645152"/>
            <a:ext cx="2962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情報処理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138928"/>
            <a:ext cx="296265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データを分析して、価値のある情報をつくる。AIもこの分野。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2560320"/>
            <a:ext cx="3419856" cy="347472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eld2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2560320"/>
            <a:ext cx="3419856" cy="19202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79976" y="4480560"/>
            <a:ext cx="50800" cy="155448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4645152"/>
            <a:ext cx="2962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ネットワークシステム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5138928"/>
            <a:ext cx="296265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モノやサービスをつなぎ、情報を安全・確実に届ける。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4152" y="2560320"/>
            <a:ext cx="3419856" cy="347472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ield3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2560320"/>
            <a:ext cx="3419856" cy="19202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74152" y="4480560"/>
            <a:ext cx="50800" cy="155448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4645152"/>
            <a:ext cx="2962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組込みシステム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5138928"/>
            <a:ext cx="296265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家電や機械の中で動くソフトウェアをつくる。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Students'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日習の先輩が、この学科で一緒に作っています。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CSTコースの皆さんの作品。高校にいながら、理工学部の授業を受けられます。（クリックで再生・30秒）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pic>
        <p:nvPicPr>
          <p:cNvPr id="10" name="nichinara_work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880360" y="2670048"/>
            <a:ext cx="6428232" cy="320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20分で、日習のホームページを作ります。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14600"/>
            <a:ext cx="2606040" cy="292608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2606040" cy="508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118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見せる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AIが昨日つくったサイトを見る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514600"/>
            <a:ext cx="2606040" cy="292608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2514600"/>
            <a:ext cx="2606040" cy="508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28346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6118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聞く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25196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みなさんに、日習のいいところを聞く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514600"/>
            <a:ext cx="2606040" cy="292608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514600"/>
            <a:ext cx="2606040" cy="508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8346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6118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書き換える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25196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聞いたことを、その場でAIに反映させる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2514600"/>
            <a:ext cx="2606040" cy="292608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2514600"/>
            <a:ext cx="2606040" cy="508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8346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6118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公開する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425196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本物のURLで公開して、QRで配る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1377D"/>
              </a:gs>
              <a:gs pos="100000">
                <a:srgbClr val="593FBF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32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10241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みなさんに聞きます。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日習のいいところは？</a:t>
            </a:r>
          </a:p>
          <a:p>
            <a:pPr>
              <a:lnSpc>
                <a:spcPct val="155000"/>
              </a:lnSpc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売店で一番買うものは？</a:t>
            </a:r>
          </a:p>
          <a:p>
            <a:pPr>
              <a:lnSpc>
                <a:spcPct val="155000"/>
              </a:lnSpc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サイトの色は何色にする？</a:t>
            </a:r>
          </a:p>
          <a:p>
            <a:pPr>
              <a:lnSpc>
                <a:spcPct val="155000"/>
              </a:lnSpc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ゲームの敵、何にする？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Behind the Scenes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いま、AIは何をしているのか。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3154680" cy="228600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43200"/>
            <a:ext cx="50800" cy="22860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みなさんの言葉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「人工芝がいい」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「売店のパンがうまい」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7033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743200"/>
            <a:ext cx="3154680" cy="228600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2743200"/>
            <a:ext cx="50800" cy="22860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315468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AIがデータを書き換える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977639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文章・色・ゲームの設定を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まとめて直す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7033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2743200"/>
            <a:ext cx="3154680" cy="228600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2743200"/>
            <a:ext cx="50800" cy="22860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315468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サイトが変わる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977639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読み込み直すと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見た目が変わる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How to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AIには、こう頼みます。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これは例です。今日みなさんから聞いた言葉で、この中身が決まります。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06040"/>
            <a:ext cx="6675120" cy="3291840"/>
          </a:xfrm>
          <a:prstGeom prst="rect">
            <a:avLst/>
          </a:prstGeom>
          <a:solidFill>
            <a:srgbClr val="2B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07792"/>
            <a:ext cx="621792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日大習志野高校の1年生に聞いた内容を、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サイトに反映してください。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　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・魅力の3つを「人工芝」「売店」「図書室」にする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・生徒の声を、次の3つの言葉に差し替える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・テーマの色を青系にする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　</a:t>
            </a:r>
          </a:p>
          <a:p>
            <a:pPr>
              <a:lnSpc>
                <a:spcPct val="155000"/>
              </a:lnSpc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ゲームは、いまのままにしておいてください。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34640"/>
            <a:ext cx="374903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聞いた言葉を、そのまま渡す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「いい感じにして」では伝わらない</a:t>
            </a:r>
          </a:p>
          <a:p>
            <a:pPr>
              <a:spcBef>
                <a:spcPts val="2600"/>
              </a:spcBef>
            </a:pPr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どこを変えるか、名指しする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変えてほしい場所をはっきり言う</a:t>
            </a:r>
          </a:p>
          <a:p>
            <a:pPr>
              <a:spcBef>
                <a:spcPts val="2600"/>
              </a:spcBef>
            </a:pPr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変えないでほしい所も、言う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触られたくない部分を先に守る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1377D"/>
              </a:gs>
              <a:gs pos="100000">
                <a:srgbClr val="593FBF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32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10241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AIと対話できる人が、必要になる。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6634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うまく頼む。出てきたものを確かめる。ちがえば、ちがうと言って直させる。この往復ができる人です。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Dialogue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このミニ講義も、AIとの対話で作りました。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きのうの1時間40分。作業の記録（Gitの履歴）から、そのままの時刻です。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96896"/>
            <a:ext cx="38100" cy="384048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42032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12:36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42032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「20分ずつ、2回。リポジトリを分けて作って」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542032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日習のサイトの下地ができた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72968"/>
            <a:ext cx="38100" cy="384048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118104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13:00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118104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「いかにもAIが作ったサイト。作り直して」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118104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118104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デザインを全部組み直した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749040"/>
            <a:ext cx="38100" cy="384048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94176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13:32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694176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「ゲームが単調。もっと本格的に」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694176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694176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3ステージのアクションゲームになった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325112"/>
            <a:ext cx="38100" cy="384048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70248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13:45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270248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「公開したら、ゲームが動かない」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270248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270248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バグを見つけて直した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901184"/>
            <a:ext cx="38100" cy="384048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4632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14:13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46320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「スライドを作って」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846320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846320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この18枚ができた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477256"/>
            <a:ext cx="38100" cy="384048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422392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いま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5422392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「4枚目の丸が変」「この説明は分からない」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5422392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422392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その指摘で、今このページを直した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うまくいかない、と言い続けたのは人間です。AIは言われるまで気づきませんでした。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Your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3年後、みなさんは大学生。7年後、働いています。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566160"/>
            <a:ext cx="9601200" cy="38100"/>
          </a:xfrm>
          <a:prstGeom prst="rect">
            <a:avLst/>
          </a:prstGeom>
          <a:solidFill>
            <a:srgbClr val="D9D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83080" y="3401568"/>
            <a:ext cx="201168" cy="201168"/>
          </a:xfrm>
          <a:prstGeom prst="ellipse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spc="1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862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今日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高校1年生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0" y="3401568"/>
            <a:ext cx="201168" cy="201168"/>
          </a:xfrm>
          <a:prstGeom prst="ellipse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6974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spc="1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2029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8862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3年後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大学に入る</a:t>
            </a:r>
          </a:p>
        </p:txBody>
      </p:sp>
      <p:sp>
        <p:nvSpPr>
          <p:cNvPr id="16" name="Oval 15"/>
          <p:cNvSpPr/>
          <p:nvPr/>
        </p:nvSpPr>
        <p:spPr>
          <a:xfrm>
            <a:off x="8641080" y="3401568"/>
            <a:ext cx="201168" cy="201168"/>
          </a:xfrm>
          <a:prstGeom prst="ellipse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6974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spc="1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2033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8862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7年後</a:t>
            </a: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就職、または大学院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4924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そのころAIが何をできるようになっているか、私にも分かりません。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How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3年半で、ここまで来ました。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51760"/>
            <a:ext cx="5166360" cy="237744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2022年11月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ChatGPTが公開された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6052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文章を書くのが中心だった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651760"/>
            <a:ext cx="5166360" cy="237744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926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2026年9月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4290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今日、この20分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16052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話を聞いて、サイトを作って、公開できる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次の3年で何が起きるかは、誰にも分かりません。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だから、予想するより先に、いまのAIを自分で触ってみることです。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AI and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今日、AIがやったこと。人間がやったこと。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06040"/>
            <a:ext cx="5166360" cy="3154680"/>
          </a:xfrm>
          <a:prstGeom prst="rect">
            <a:avLst/>
          </a:prstGeom>
          <a:solidFill>
            <a:srgbClr val="F7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4805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・文章を書いた</a:t>
            </a:r>
          </a:p>
          <a:p>
            <a:pPr>
              <a:lnSpc>
                <a:spcPct val="178000"/>
              </a:lnSpc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・色を決めた</a:t>
            </a:r>
          </a:p>
          <a:p>
            <a:pPr>
              <a:lnSpc>
                <a:spcPct val="178000"/>
              </a:lnSpc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・コードを書いた</a:t>
            </a:r>
          </a:p>
          <a:p>
            <a:pPr>
              <a:lnSpc>
                <a:spcPct val="178000"/>
              </a:lnSpc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・ゲームのステージを作った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606040"/>
            <a:ext cx="5166360" cy="315468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88036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人間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566160"/>
            <a:ext cx="44805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・何を作るか決めた</a:t>
            </a:r>
          </a:p>
          <a:p>
            <a:pPr>
              <a:lnSpc>
                <a:spcPct val="178000"/>
              </a:lnSpc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・みなさんに聞いた</a:t>
            </a:r>
          </a:p>
          <a:p>
            <a:pPr>
              <a:lnSpc>
                <a:spcPct val="178000"/>
              </a:lnSpc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・本当かどうか確かめた</a:t>
            </a:r>
          </a:p>
          <a:p>
            <a:pPr>
              <a:lnSpc>
                <a:spcPct val="178000"/>
              </a:lnSpc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・ちがうと言って直させた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2531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AIは日習のことを何も知りませんでした。知っているのは、みなさんだけです。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AIも間違えます。確かめるのは人間です。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AIが作ったジャンプ台。押した長さでジャンプを低くする処理が、ジャンプ台の勢いまで消していました。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15</a:t>
            </a:r>
          </a:p>
        </p:txBody>
      </p:sp>
      <p:pic>
        <p:nvPicPr>
          <p:cNvPr id="10" name="Picture 9" descr="bug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786" y="2651760"/>
            <a:ext cx="9615948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公開してから見つかりました。確かめる仕組みを作れる人が要ります。それを学ぶのが情報系の学科です。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1377D"/>
              </a:gs>
              <a:gs pos="100000">
                <a:srgbClr val="593FBF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spc="32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今日、持って帰ってほしいこと。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5603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いまのAIを、自分で触ってみる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0815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どこまでできて、どこができないかは、触らないと分からない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7647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730752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何を作るか決めるのは、人間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2519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AIは日習を知らない。決めて、聞いて、確かめるのはみなさん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46904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901184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AIと対話できる人になる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4223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うまく頼み、確かめ、直させる。その中身を学ぶのが応用情報工学科です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Your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今日つくったサイトは、ここにあります。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005840" cy="38100"/>
          </a:xfrm>
          <a:prstGeom prst="rect">
            <a:avLst/>
          </a:prstGeom>
          <a:solidFill>
            <a:srgbClr val="91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2回目のみなさんへ　放課後でも、家でも開けます。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181344"/>
            <a:ext cx="1389888" cy="5185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207008" cy="335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0" y="6355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17</a:t>
            </a:r>
          </a:p>
        </p:txBody>
      </p:sp>
      <p:pic>
        <p:nvPicPr>
          <p:cNvPr id="10" name="Picture 9" descr="narashino-visit-2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606040"/>
            <a:ext cx="3017520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324612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https://yutakajssst.github.io/narashino-visit-2/</a:t>
            </a:r>
          </a:p>
          <a:p>
            <a:pPr>
              <a:spcBef>
                <a:spcPts val="1600"/>
              </a:spcBef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スマホのカメラでQRコードを読んでください。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みなさんの言葉が入ったページと、ミニゲームがあります。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