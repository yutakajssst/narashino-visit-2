
<file path=[Content_Types].xml><?xml version="1.0" encoding="utf-8"?>
<Types xmlns="http://schemas.openxmlformats.org/package/2006/content-types">
  <Default Extension="jpeg" ContentType="image/jpeg"/>
  <Default Extension="jp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94658"/>
  </p:normalViewPr>
  <p:slideViewPr>
    <p:cSldViewPr snapToGrid="0" snapToObjects="1">
      <p:cViewPr varScale="1">
        <p:scale>
          <a:sx n="120" d="100"/>
          <a:sy n="120" d="100"/>
        </p:scale>
        <p:origin x="800" y="18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7.jpg"/><Relationship Id="rId4" Type="http://schemas.openxmlformats.org/officeDocument/2006/relationships/image" Target="../media/image6.jp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5" Type="http://schemas.openxmlformats.org/officeDocument/2006/relationships/image" Target="../media/image8.png"/><Relationship Id="rId4" Type="http://schemas.openxmlformats.org/officeDocument/2006/relationships/image" Target="../media/image1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91377D"/>
              </a:gs>
              <a:gs pos="100000">
                <a:srgbClr val="593FBF"/>
              </a:gs>
            </a:gsLst>
            <a:lin ang="20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685800" y="594360"/>
            <a:ext cx="2697480" cy="88212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logo_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685800"/>
            <a:ext cx="2514600" cy="699247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3291840" y="1965960"/>
            <a:ext cx="5577840" cy="1905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14400" y="2148840"/>
            <a:ext cx="103327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500" b="1" spc="400">
                <a:solidFill>
                  <a:srgbClr val="FFFFFF"/>
                </a:solidFill>
                <a:latin typeface="Hiragino Kaku Gothic ProN"/>
                <a:ea typeface="Hiragino Kaku Gothic ProN"/>
                <a:cs typeface="Hiragino Kaku Gothic ProN"/>
              </a:rPr>
              <a:t>C r e a t i n g   A   N e w   W o r l 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761488"/>
            <a:ext cx="10332720" cy="1828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5000" b="1">
                <a:solidFill>
                  <a:srgbClr val="FFFFFF"/>
                </a:solidFill>
                <a:latin typeface="Hiragino Mincho ProN"/>
                <a:ea typeface="Hiragino Mincho ProN"/>
                <a:cs typeface="Hiragino Mincho ProN"/>
              </a:rPr>
              <a:t>AIと20分で、</a:t>
            </a:r>
          </a:p>
          <a:p>
            <a:pPr>
              <a:lnSpc>
                <a:spcPct val="120000"/>
              </a:lnSpc>
            </a:pPr>
            <a:r>
              <a:rPr sz="5000" b="1">
                <a:solidFill>
                  <a:srgbClr val="FFFFFF"/>
                </a:solidFill>
                <a:latin typeface="Hiragino Mincho ProN"/>
                <a:ea typeface="Hiragino Mincho ProN"/>
                <a:cs typeface="Hiragino Mincho ProN"/>
              </a:rPr>
              <a:t>日習のホームページを作る</a:t>
            </a:r>
          </a:p>
        </p:txBody>
      </p:sp>
      <p:sp>
        <p:nvSpPr>
          <p:cNvPr id="8" name="Rectangle 7"/>
          <p:cNvSpPr/>
          <p:nvPr/>
        </p:nvSpPr>
        <p:spPr>
          <a:xfrm>
            <a:off x="3291840" y="4956048"/>
            <a:ext cx="5577840" cy="1905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14400" y="5230368"/>
            <a:ext cx="1033272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700" b="0">
                <a:solidFill>
                  <a:srgbClr val="FFFFFF"/>
                </a:solidFill>
                <a:latin typeface="Hiragino Kaku Gothic ProN"/>
                <a:ea typeface="Hiragino Kaku Gothic ProN"/>
                <a:cs typeface="Hiragino Kaku Gothic ProN"/>
              </a:rPr>
              <a:t>日本大学理工学部 応用情報工学科　教授　松野 裕</a:t>
            </a:r>
          </a:p>
          <a:p>
            <a:pPr>
              <a:spcBef>
                <a:spcPts val="800"/>
              </a:spcBef>
            </a:pPr>
            <a:r>
              <a:rPr sz="1300" b="0">
                <a:solidFill>
                  <a:srgbClr val="FFFFFF"/>
                </a:solidFill>
                <a:latin typeface="Hiragino Kaku Gothic ProN"/>
                <a:ea typeface="Hiragino Kaku Gothic ProN"/>
                <a:cs typeface="Hiragino Kaku Gothic ProN"/>
              </a:rPr>
              <a:t>2026年9月8日　日本大学習志野高等学校 1学年 学部見学会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85800" y="475488"/>
            <a:ext cx="73152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spc="320">
                <a:solidFill>
                  <a:srgbClr val="91377D"/>
                </a:solidFill>
                <a:latin typeface="Hiragino Mincho ProN"/>
                <a:ea typeface="Hiragino Mincho ProN"/>
                <a:cs typeface="Hiragino Mincho ProN"/>
              </a:rPr>
              <a:t>Profile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960120"/>
            <a:ext cx="1078992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>
                <a:solidFill>
                  <a:srgbClr val="333333"/>
                </a:solidFill>
                <a:latin typeface="Hiragino Mincho ProN"/>
                <a:ea typeface="Hiragino Mincho ProN"/>
                <a:cs typeface="Hiragino Mincho ProN"/>
              </a:rPr>
              <a:t>松野 裕（まつの ゆたか）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874519"/>
            <a:ext cx="1005840" cy="38100"/>
          </a:xfrm>
          <a:prstGeom prst="rect">
            <a:avLst/>
          </a:prstGeom>
          <a:solidFill>
            <a:srgbClr val="913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594360" y="6181344"/>
            <a:ext cx="1389888" cy="51851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Picture 6" descr="logo_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6272784"/>
            <a:ext cx="1207008" cy="33563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0789920" y="6355080"/>
            <a:ext cx="7315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5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331720"/>
            <a:ext cx="5852160" cy="3108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90000"/>
              </a:lnSpc>
              <a:spcBef>
                <a:spcPts val="600"/>
              </a:spcBef>
            </a:pPr>
            <a:r>
              <a:rPr sz="1900" b="0">
                <a:solidFill>
                  <a:srgbClr val="333333"/>
                </a:solidFill>
                <a:latin typeface="Hiragino Kaku Gothic ProN"/>
                <a:ea typeface="Hiragino Kaku Gothic ProN"/>
                <a:cs typeface="Hiragino Kaku Gothic ProN"/>
              </a:rPr>
              <a:t>・プログラミング言語</a:t>
            </a:r>
          </a:p>
          <a:p>
            <a:pPr>
              <a:lnSpc>
                <a:spcPct val="190000"/>
              </a:lnSpc>
              <a:spcBef>
                <a:spcPts val="600"/>
              </a:spcBef>
            </a:pPr>
            <a:r>
              <a:rPr sz="1900" b="0">
                <a:solidFill>
                  <a:srgbClr val="333333"/>
                </a:solidFill>
                <a:latin typeface="Hiragino Kaku Gothic ProN"/>
                <a:ea typeface="Hiragino Kaku Gothic ProN"/>
                <a:cs typeface="Hiragino Kaku Gothic ProN"/>
              </a:rPr>
              <a:t>・ソフトウェア工学</a:t>
            </a:r>
          </a:p>
          <a:p>
            <a:pPr>
              <a:lnSpc>
                <a:spcPct val="190000"/>
              </a:lnSpc>
              <a:spcBef>
                <a:spcPts val="600"/>
              </a:spcBef>
            </a:pPr>
            <a:r>
              <a:rPr sz="1900" b="0">
                <a:solidFill>
                  <a:srgbClr val="333333"/>
                </a:solidFill>
                <a:latin typeface="Hiragino Kaku Gothic ProN"/>
                <a:ea typeface="Hiragino Kaku Gothic ProN"/>
                <a:cs typeface="Hiragino Kaku Gothic ProN"/>
              </a:rPr>
              <a:t>・システムの総合信頼性（Dependability）</a:t>
            </a:r>
          </a:p>
          <a:p>
            <a:pPr>
              <a:lnSpc>
                <a:spcPct val="170000"/>
              </a:lnSpc>
              <a:spcBef>
                <a:spcPts val="2200"/>
              </a:spcBef>
            </a:pPr>
            <a:r>
              <a:rPr sz="150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ソフトウェアを、どうやって安心して使えるものにするか</a:t>
            </a:r>
          </a:p>
          <a:p>
            <a:pPr>
              <a:lnSpc>
                <a:spcPct val="170000"/>
              </a:lnSpc>
            </a:pPr>
            <a:r>
              <a:rPr sz="150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それを研究しています</a:t>
            </a:r>
          </a:p>
        </p:txBody>
      </p:sp>
      <p:pic>
        <p:nvPicPr>
          <p:cNvPr id="10" name="Picture 9" descr="image2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52410" y="2194560"/>
            <a:ext cx="2674620" cy="356616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85800" y="475488"/>
            <a:ext cx="73152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spc="320">
                <a:solidFill>
                  <a:srgbClr val="91377D"/>
                </a:solidFill>
                <a:latin typeface="Hiragino Mincho ProN"/>
                <a:ea typeface="Hiragino Mincho ProN"/>
                <a:cs typeface="Hiragino Mincho ProN"/>
              </a:rPr>
              <a:t>Campus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960120"/>
            <a:ext cx="1078992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>
                <a:solidFill>
                  <a:srgbClr val="333333"/>
                </a:solidFill>
                <a:latin typeface="Hiragino Mincho ProN"/>
                <a:ea typeface="Hiragino Mincho ProN"/>
                <a:cs typeface="Hiragino Mincho ProN"/>
              </a:rPr>
              <a:t>みなさんの学校と、同じキャンパスの中にあります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874519"/>
            <a:ext cx="1005840" cy="38100"/>
          </a:xfrm>
          <a:prstGeom prst="rect">
            <a:avLst/>
          </a:prstGeom>
          <a:solidFill>
            <a:srgbClr val="913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85800" y="2084831"/>
            <a:ext cx="107899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船橋日大前駅から歩いて5分。日大習志野高校の校舎も、この地図の中にあります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" y="6181344"/>
            <a:ext cx="1389888" cy="51851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logo_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6272784"/>
            <a:ext cx="1207008" cy="33563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0789920" y="6355080"/>
            <a:ext cx="7315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5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3</a:t>
            </a:r>
          </a:p>
        </p:txBody>
      </p:sp>
      <p:pic>
        <p:nvPicPr>
          <p:cNvPr id="10" name="Picture 9" descr="logo_cst_facult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38360" y="548640"/>
            <a:ext cx="1737360" cy="438324"/>
          </a:xfrm>
          <a:prstGeom prst="rect">
            <a:avLst/>
          </a:prstGeom>
        </p:spPr>
      </p:pic>
      <p:pic>
        <p:nvPicPr>
          <p:cNvPr id="11" name="Picture 10" descr="campus_annotat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48850" y="2468880"/>
            <a:ext cx="5663820" cy="37947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85800" y="475488"/>
            <a:ext cx="73152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spc="320">
                <a:solidFill>
                  <a:srgbClr val="91377D"/>
                </a:solidFill>
                <a:latin typeface="Hiragino Mincho ProN"/>
                <a:ea typeface="Hiragino Mincho ProN"/>
                <a:cs typeface="Hiragino Mincho ProN"/>
              </a:rPr>
              <a:t>About 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960120"/>
            <a:ext cx="1078992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>
                <a:solidFill>
                  <a:srgbClr val="333333"/>
                </a:solidFill>
                <a:latin typeface="Hiragino Mincho ProN"/>
                <a:ea typeface="Hiragino Mincho ProN"/>
                <a:cs typeface="Hiragino Mincho ProN"/>
              </a:rPr>
              <a:t>AIとIoTを組み合わせたソフトウェアものづくりを学ぶ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874519"/>
            <a:ext cx="1005840" cy="38100"/>
          </a:xfrm>
          <a:prstGeom prst="rect">
            <a:avLst/>
          </a:prstGeom>
          <a:solidFill>
            <a:srgbClr val="913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85800" y="2084831"/>
            <a:ext cx="107899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応用情報工学科では、3つの分野を学びます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" y="6181344"/>
            <a:ext cx="1389888" cy="51851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logo_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6272784"/>
            <a:ext cx="1207008" cy="33563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0789920" y="6355080"/>
            <a:ext cx="7315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5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4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" y="2560320"/>
            <a:ext cx="3419856" cy="3474720"/>
          </a:xfrm>
          <a:prstGeom prst="rect">
            <a:avLst/>
          </a:prstGeom>
          <a:solidFill>
            <a:srgbClr val="F7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1" name="Picture 10" descr="field1w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2560320"/>
            <a:ext cx="3419856" cy="1920240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685800" y="4480560"/>
            <a:ext cx="50800" cy="1554480"/>
          </a:xfrm>
          <a:prstGeom prst="rect">
            <a:avLst/>
          </a:prstGeom>
          <a:solidFill>
            <a:srgbClr val="913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941832" y="4645152"/>
            <a:ext cx="296265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100" b="1">
                <a:solidFill>
                  <a:srgbClr val="333333"/>
                </a:solidFill>
                <a:latin typeface="Hiragino Mincho ProN"/>
                <a:ea typeface="Hiragino Mincho ProN"/>
                <a:cs typeface="Hiragino Mincho ProN"/>
              </a:rPr>
              <a:t>情報処理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41832" y="5138928"/>
            <a:ext cx="2962656" cy="960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30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データを分析して、価値のある情報をつくる。AIもこの分野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79976" y="2560320"/>
            <a:ext cx="3419856" cy="3474720"/>
          </a:xfrm>
          <a:prstGeom prst="rect">
            <a:avLst/>
          </a:prstGeom>
          <a:solidFill>
            <a:srgbClr val="F7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6" name="Picture 15" descr="field2w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79976" y="2560320"/>
            <a:ext cx="3419856" cy="1920240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>
          <a:xfrm>
            <a:off x="4379976" y="4480560"/>
            <a:ext cx="50800" cy="1554480"/>
          </a:xfrm>
          <a:prstGeom prst="rect">
            <a:avLst/>
          </a:prstGeom>
          <a:solidFill>
            <a:srgbClr val="913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636008" y="4645152"/>
            <a:ext cx="296265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100" b="1">
                <a:solidFill>
                  <a:srgbClr val="333333"/>
                </a:solidFill>
                <a:latin typeface="Hiragino Mincho ProN"/>
                <a:ea typeface="Hiragino Mincho ProN"/>
                <a:cs typeface="Hiragino Mincho ProN"/>
              </a:rPr>
              <a:t>ネットワークシステム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36008" y="5138928"/>
            <a:ext cx="2962656" cy="960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30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モノやサービスをつなぎ、情報を安全・確実に届ける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74152" y="2560320"/>
            <a:ext cx="3419856" cy="3474720"/>
          </a:xfrm>
          <a:prstGeom prst="rect">
            <a:avLst/>
          </a:prstGeom>
          <a:solidFill>
            <a:srgbClr val="F7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1" name="Picture 20" descr="field3w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74152" y="2560320"/>
            <a:ext cx="3419856" cy="1920240"/>
          </a:xfrm>
          <a:prstGeom prst="rect">
            <a:avLst/>
          </a:prstGeom>
        </p:spPr>
      </p:pic>
      <p:sp>
        <p:nvSpPr>
          <p:cNvPr id="22" name="Rectangle 21"/>
          <p:cNvSpPr/>
          <p:nvPr/>
        </p:nvSpPr>
        <p:spPr>
          <a:xfrm>
            <a:off x="8074152" y="4480560"/>
            <a:ext cx="50800" cy="1554480"/>
          </a:xfrm>
          <a:prstGeom prst="rect">
            <a:avLst/>
          </a:prstGeom>
          <a:solidFill>
            <a:srgbClr val="913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330184" y="4645152"/>
            <a:ext cx="296265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100" b="1">
                <a:solidFill>
                  <a:srgbClr val="333333"/>
                </a:solidFill>
                <a:latin typeface="Hiragino Mincho ProN"/>
                <a:ea typeface="Hiragino Mincho ProN"/>
                <a:cs typeface="Hiragino Mincho ProN"/>
              </a:rPr>
              <a:t>組込みシステム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30184" y="5138928"/>
            <a:ext cx="2962656" cy="960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30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家電や機械の中で動くソフトウェアをつくる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85800" y="475488"/>
            <a:ext cx="73152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spc="320">
                <a:solidFill>
                  <a:srgbClr val="91377D"/>
                </a:solidFill>
                <a:latin typeface="Hiragino Mincho ProN"/>
                <a:ea typeface="Hiragino Mincho ProN"/>
                <a:cs typeface="Hiragino Mincho ProN"/>
              </a:rPr>
              <a:t>Students' 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960120"/>
            <a:ext cx="1078992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>
                <a:solidFill>
                  <a:srgbClr val="333333"/>
                </a:solidFill>
                <a:latin typeface="Hiragino Mincho ProN"/>
                <a:ea typeface="Hiragino Mincho ProN"/>
                <a:cs typeface="Hiragino Mincho ProN"/>
              </a:rPr>
              <a:t>日習の先輩が、この学科で一緒に作っています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874519"/>
            <a:ext cx="1005840" cy="38100"/>
          </a:xfrm>
          <a:prstGeom prst="rect">
            <a:avLst/>
          </a:prstGeom>
          <a:solidFill>
            <a:srgbClr val="913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85800" y="2084831"/>
            <a:ext cx="107899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CSTコースの皆さんの作品。高校にいながら、理工学部の授業を受けられます。（クリックで再生・30秒）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" y="6181344"/>
            <a:ext cx="1389888" cy="51851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logo_c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6272784"/>
            <a:ext cx="1207008" cy="33563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0789920" y="6355080"/>
            <a:ext cx="7315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5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5</a:t>
            </a:r>
          </a:p>
        </p:txBody>
      </p:sp>
      <p:pic>
        <p:nvPicPr>
          <p:cNvPr id="10" name="nichinara_work.mp4">
            <a:hlinkClick r:id="" action="ppaction://media"/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3081528" y="2615184"/>
            <a:ext cx="6035040" cy="300837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85800" y="5779008"/>
            <a:ext cx="107899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>
                <a:solidFill>
                  <a:srgbClr val="91377D"/>
                </a:solidFill>
                <a:latin typeface="Hiragino Kaku Gothic ProN"/>
                <a:ea typeface="Hiragino Kaku Gothic ProN"/>
                <a:cs typeface="Hiragino Kaku Gothic ProN"/>
              </a:rPr>
              <a:t>6年前の作品です。当時はUnityの使い方を覚えるところから始めて、半年かかりました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10"/>
                </p:tgtEl>
              </p:cMediaNode>
            </p:video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85800" y="475488"/>
            <a:ext cx="73152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spc="320">
                <a:solidFill>
                  <a:srgbClr val="91377D"/>
                </a:solidFill>
                <a:latin typeface="Hiragino Mincho ProN"/>
                <a:ea typeface="Hiragino Mincho ProN"/>
                <a:cs typeface="Hiragino Mincho ProN"/>
              </a:rPr>
              <a:t>Today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960120"/>
            <a:ext cx="1078992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>
                <a:solidFill>
                  <a:srgbClr val="333333"/>
                </a:solidFill>
                <a:latin typeface="Hiragino Mincho ProN"/>
                <a:ea typeface="Hiragino Mincho ProN"/>
                <a:cs typeface="Hiragino Mincho ProN"/>
              </a:rPr>
              <a:t>20分で、日習のホームページを作ります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874519"/>
            <a:ext cx="1005840" cy="38100"/>
          </a:xfrm>
          <a:prstGeom prst="rect">
            <a:avLst/>
          </a:prstGeom>
          <a:solidFill>
            <a:srgbClr val="913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594360" y="6181344"/>
            <a:ext cx="1389888" cy="51851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Picture 6" descr="logo_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6272784"/>
            <a:ext cx="1207008" cy="33563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0789920" y="6355080"/>
            <a:ext cx="7315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5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6</a:t>
            </a:r>
          </a:p>
        </p:txBody>
      </p:sp>
      <p:sp>
        <p:nvSpPr>
          <p:cNvPr id="9" name="Rectangle 8"/>
          <p:cNvSpPr/>
          <p:nvPr/>
        </p:nvSpPr>
        <p:spPr>
          <a:xfrm>
            <a:off x="2099935" y="2514600"/>
            <a:ext cx="2606040" cy="2926080"/>
          </a:xfrm>
          <a:prstGeom prst="rect">
            <a:avLst/>
          </a:prstGeom>
          <a:solidFill>
            <a:srgbClr val="F7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2099935" y="2514600"/>
            <a:ext cx="2606040" cy="50800"/>
          </a:xfrm>
          <a:prstGeom prst="rect">
            <a:avLst/>
          </a:prstGeom>
          <a:solidFill>
            <a:srgbClr val="913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2374255" y="2834640"/>
            <a:ext cx="20574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 spc="200">
                <a:solidFill>
                  <a:srgbClr val="91377D"/>
                </a:solidFill>
                <a:latin typeface="Hiragino Mincho ProN"/>
                <a:ea typeface="Hiragino Mincho ProN"/>
                <a:cs typeface="Hiragino Mincho ProN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74255" y="3611880"/>
            <a:ext cx="20574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300" b="1">
                <a:solidFill>
                  <a:srgbClr val="333333"/>
                </a:solidFill>
                <a:latin typeface="Hiragino Mincho ProN"/>
                <a:ea typeface="Hiragino Mincho ProN"/>
                <a:cs typeface="Hiragino Mincho ProN"/>
              </a:rPr>
              <a:t>見せる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74255" y="4251960"/>
            <a:ext cx="205740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65000"/>
              </a:lnSpc>
            </a:pPr>
            <a:r>
              <a:rPr sz="140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AIが昨日つくったサイトを見る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934575" y="2514600"/>
            <a:ext cx="2606040" cy="2926080"/>
          </a:xfrm>
          <a:prstGeom prst="rect">
            <a:avLst/>
          </a:prstGeom>
          <a:solidFill>
            <a:srgbClr val="F7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4934575" y="2514600"/>
            <a:ext cx="2606040" cy="50800"/>
          </a:xfrm>
          <a:prstGeom prst="rect">
            <a:avLst/>
          </a:prstGeom>
          <a:solidFill>
            <a:srgbClr val="913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208895" y="2834640"/>
            <a:ext cx="20574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 spc="200">
                <a:solidFill>
                  <a:srgbClr val="91377D"/>
                </a:solidFill>
                <a:latin typeface="Hiragino Mincho ProN"/>
                <a:ea typeface="Hiragino Mincho ProN"/>
                <a:cs typeface="Hiragino Mincho ProN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08895" y="3611880"/>
            <a:ext cx="20574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300" b="1">
                <a:solidFill>
                  <a:srgbClr val="333333"/>
                </a:solidFill>
                <a:latin typeface="Hiragino Mincho ProN"/>
                <a:ea typeface="Hiragino Mincho ProN"/>
                <a:cs typeface="Hiragino Mincho ProN"/>
              </a:rPr>
              <a:t>聞く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08895" y="4251960"/>
            <a:ext cx="205740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65000"/>
              </a:lnSpc>
            </a:pPr>
            <a:r>
              <a:rPr sz="140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みなさんに、日習のいいところを聞く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69215" y="2514600"/>
            <a:ext cx="2606040" cy="2926080"/>
          </a:xfrm>
          <a:prstGeom prst="rect">
            <a:avLst/>
          </a:prstGeom>
          <a:solidFill>
            <a:srgbClr val="F7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7769215" y="2514600"/>
            <a:ext cx="2606040" cy="50800"/>
          </a:xfrm>
          <a:prstGeom prst="rect">
            <a:avLst/>
          </a:prstGeom>
          <a:solidFill>
            <a:srgbClr val="913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043535" y="2834640"/>
            <a:ext cx="20574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 spc="200">
                <a:solidFill>
                  <a:srgbClr val="91377D"/>
                </a:solidFill>
                <a:latin typeface="Hiragino Mincho ProN"/>
                <a:ea typeface="Hiragino Mincho ProN"/>
                <a:cs typeface="Hiragino Mincho ProN"/>
              </a:rPr>
              <a:t>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43535" y="3611880"/>
            <a:ext cx="20574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300" b="1">
                <a:solidFill>
                  <a:srgbClr val="333333"/>
                </a:solidFill>
                <a:latin typeface="Hiragino Mincho ProN"/>
                <a:ea typeface="Hiragino Mincho ProN"/>
                <a:cs typeface="Hiragino Mincho ProN"/>
              </a:rPr>
              <a:t>書き換える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43535" y="4251960"/>
            <a:ext cx="205740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65000"/>
              </a:lnSpc>
            </a:pPr>
            <a:r>
              <a:rPr sz="140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聞いたことを、その場でAIに反映させる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91377D"/>
              </a:gs>
              <a:gs pos="100000">
                <a:srgbClr val="593FBF"/>
              </a:gs>
            </a:gsLst>
            <a:lin ang="20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005840" y="1965960"/>
            <a:ext cx="102412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 spc="320">
                <a:solidFill>
                  <a:srgbClr val="FFFFFF"/>
                </a:solidFill>
                <a:latin typeface="Hiragino Mincho ProN"/>
                <a:ea typeface="Hiragino Mincho ProN"/>
                <a:cs typeface="Hiragino Mincho ProN"/>
              </a:rPr>
              <a:t>Your Turn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514600"/>
            <a:ext cx="10241280" cy="2011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4600" b="1">
                <a:solidFill>
                  <a:srgbClr val="FFFFFF"/>
                </a:solidFill>
                <a:latin typeface="Hiragino Mincho ProN"/>
                <a:ea typeface="Hiragino Mincho ProN"/>
                <a:cs typeface="Hiragino Mincho ProN"/>
              </a:rPr>
              <a:t>みなさんに聞きます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6181344"/>
            <a:ext cx="1389888" cy="51851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logo_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6272784"/>
            <a:ext cx="1207008" cy="33563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0789920" y="6355080"/>
            <a:ext cx="7315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50" b="0">
                <a:solidFill>
                  <a:srgbClr val="FFFFFF"/>
                </a:solidFill>
                <a:latin typeface="Hiragino Kaku Gothic ProN"/>
                <a:ea typeface="Hiragino Kaku Gothic ProN"/>
                <a:cs typeface="Hiragino Kaku Gothic ProN"/>
              </a:rP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4251960"/>
            <a:ext cx="10058400" cy="1737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900" b="0">
                <a:solidFill>
                  <a:srgbClr val="FFFFFF"/>
                </a:solidFill>
                <a:latin typeface="Hiragino Kaku Gothic ProN"/>
                <a:ea typeface="Hiragino Kaku Gothic ProN"/>
                <a:cs typeface="Hiragino Kaku Gothic ProN"/>
              </a:rPr>
              <a:t>　日習のいいところは？</a:t>
            </a:r>
          </a:p>
          <a:p>
            <a:pPr>
              <a:lnSpc>
                <a:spcPct val="155000"/>
              </a:lnSpc>
            </a:pPr>
            <a:r>
              <a:rPr sz="1900" b="0">
                <a:solidFill>
                  <a:srgbClr val="FFFFFF"/>
                </a:solidFill>
                <a:latin typeface="Hiragino Kaku Gothic ProN"/>
                <a:ea typeface="Hiragino Kaku Gothic ProN"/>
                <a:cs typeface="Hiragino Kaku Gothic ProN"/>
              </a:rPr>
              <a:t>　売店で一番買うものは？</a:t>
            </a:r>
          </a:p>
          <a:p>
            <a:pPr>
              <a:lnSpc>
                <a:spcPct val="155000"/>
              </a:lnSpc>
            </a:pPr>
            <a:r>
              <a:rPr sz="1900" b="0">
                <a:solidFill>
                  <a:srgbClr val="FFFFFF"/>
                </a:solidFill>
                <a:latin typeface="Hiragino Kaku Gothic ProN"/>
                <a:ea typeface="Hiragino Kaku Gothic ProN"/>
                <a:cs typeface="Hiragino Kaku Gothic ProN"/>
              </a:rPr>
              <a:t>　サイトの色は何色にする？</a:t>
            </a:r>
          </a:p>
          <a:p>
            <a:pPr>
              <a:lnSpc>
                <a:spcPct val="155000"/>
              </a:lnSpc>
            </a:pPr>
            <a:r>
              <a:rPr sz="1900" b="0">
                <a:solidFill>
                  <a:srgbClr val="FFFFFF"/>
                </a:solidFill>
                <a:latin typeface="Hiragino Kaku Gothic ProN"/>
                <a:ea typeface="Hiragino Kaku Gothic ProN"/>
                <a:cs typeface="Hiragino Kaku Gothic ProN"/>
              </a:rPr>
              <a:t>　ゲームをどうしたい？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85800" y="475488"/>
            <a:ext cx="73152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spc="320">
                <a:solidFill>
                  <a:srgbClr val="91377D"/>
                </a:solidFill>
                <a:latin typeface="Hiragino Mincho ProN"/>
                <a:ea typeface="Hiragino Mincho ProN"/>
                <a:cs typeface="Hiragino Mincho ProN"/>
              </a:rPr>
              <a:t>Behind the Scenes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960120"/>
            <a:ext cx="1078992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>
                <a:solidFill>
                  <a:srgbClr val="333333"/>
                </a:solidFill>
                <a:latin typeface="Hiragino Mincho ProN"/>
                <a:ea typeface="Hiragino Mincho ProN"/>
                <a:cs typeface="Hiragino Mincho ProN"/>
              </a:rPr>
              <a:t>いま、AIは何をしているのか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874519"/>
            <a:ext cx="1005840" cy="38100"/>
          </a:xfrm>
          <a:prstGeom prst="rect">
            <a:avLst/>
          </a:prstGeom>
          <a:solidFill>
            <a:srgbClr val="913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594360" y="6181344"/>
            <a:ext cx="1389888" cy="51851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Picture 6" descr="logo_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6272784"/>
            <a:ext cx="1207008" cy="33563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0789920" y="6355080"/>
            <a:ext cx="7315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5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8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2743200"/>
            <a:ext cx="3154680" cy="2286000"/>
          </a:xfrm>
          <a:prstGeom prst="rect">
            <a:avLst/>
          </a:prstGeom>
          <a:solidFill>
            <a:srgbClr val="F7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777240" y="2743200"/>
            <a:ext cx="50800" cy="2286000"/>
          </a:xfrm>
          <a:prstGeom prst="rect">
            <a:avLst/>
          </a:prstGeom>
          <a:solidFill>
            <a:srgbClr val="913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097280" y="3154680"/>
            <a:ext cx="25146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100" b="1">
                <a:solidFill>
                  <a:srgbClr val="333333"/>
                </a:solidFill>
                <a:latin typeface="Hiragino Mincho ProN"/>
                <a:ea typeface="Hiragino Mincho ProN"/>
                <a:cs typeface="Hiragino Mincho ProN"/>
              </a:rPr>
              <a:t>みなさんの言葉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3977639"/>
            <a:ext cx="25146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40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「人工芝がいい」</a:t>
            </a:r>
          </a:p>
          <a:p>
            <a:pPr>
              <a:lnSpc>
                <a:spcPct val="155000"/>
              </a:lnSpc>
            </a:pPr>
            <a:r>
              <a:rPr sz="140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「売店のパンがうまい」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31920" y="3703320"/>
            <a:ext cx="7315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000" b="0">
                <a:solidFill>
                  <a:srgbClr val="91377D"/>
                </a:solidFill>
                <a:latin typeface="Hiragino Kaku Gothic ProN"/>
                <a:ea typeface="Hiragino Kaku Gothic ProN"/>
                <a:cs typeface="Hiragino Kaku Gothic ProN"/>
              </a:rPr>
              <a:t>▶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663440" y="2743200"/>
            <a:ext cx="3154680" cy="2286000"/>
          </a:xfrm>
          <a:prstGeom prst="rect">
            <a:avLst/>
          </a:prstGeom>
          <a:solidFill>
            <a:srgbClr val="F7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4663440" y="2743200"/>
            <a:ext cx="50800" cy="2286000"/>
          </a:xfrm>
          <a:prstGeom prst="rect">
            <a:avLst/>
          </a:prstGeom>
          <a:solidFill>
            <a:srgbClr val="913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983480" y="3154680"/>
            <a:ext cx="25146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100" b="1">
                <a:solidFill>
                  <a:srgbClr val="333333"/>
                </a:solidFill>
                <a:latin typeface="Hiragino Mincho ProN"/>
                <a:ea typeface="Hiragino Mincho ProN"/>
                <a:cs typeface="Hiragino Mincho ProN"/>
              </a:rPr>
              <a:t>AIがデータを書き換える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83480" y="3977639"/>
            <a:ext cx="25146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40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文章・色・ゲームの設定を</a:t>
            </a:r>
          </a:p>
          <a:p>
            <a:pPr>
              <a:lnSpc>
                <a:spcPct val="155000"/>
              </a:lnSpc>
            </a:pPr>
            <a:r>
              <a:rPr sz="140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まとめて直す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18120" y="3703320"/>
            <a:ext cx="7315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000" b="0">
                <a:solidFill>
                  <a:srgbClr val="91377D"/>
                </a:solidFill>
                <a:latin typeface="Hiragino Kaku Gothic ProN"/>
                <a:ea typeface="Hiragino Kaku Gothic ProN"/>
                <a:cs typeface="Hiragino Kaku Gothic ProN"/>
              </a:rPr>
              <a:t>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549640" y="2743200"/>
            <a:ext cx="3154680" cy="2286000"/>
          </a:xfrm>
          <a:prstGeom prst="rect">
            <a:avLst/>
          </a:prstGeom>
          <a:solidFill>
            <a:srgbClr val="F7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8549640" y="2743200"/>
            <a:ext cx="50800" cy="2286000"/>
          </a:xfrm>
          <a:prstGeom prst="rect">
            <a:avLst/>
          </a:prstGeom>
          <a:solidFill>
            <a:srgbClr val="913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869680" y="3154680"/>
            <a:ext cx="25146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100" b="1">
                <a:solidFill>
                  <a:srgbClr val="333333"/>
                </a:solidFill>
                <a:latin typeface="Hiragino Mincho ProN"/>
                <a:ea typeface="Hiragino Mincho ProN"/>
                <a:cs typeface="Hiragino Mincho ProN"/>
              </a:rPr>
              <a:t>サイトが変わる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69680" y="3977639"/>
            <a:ext cx="25146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40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読み込み直すと</a:t>
            </a:r>
          </a:p>
          <a:p>
            <a:pPr>
              <a:lnSpc>
                <a:spcPct val="155000"/>
              </a:lnSpc>
            </a:pPr>
            <a:r>
              <a:rPr sz="140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見た目が変わる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85800" y="475488"/>
            <a:ext cx="73152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spc="320">
                <a:solidFill>
                  <a:srgbClr val="91377D"/>
                </a:solidFill>
                <a:latin typeface="Hiragino Mincho ProN"/>
                <a:ea typeface="Hiragino Mincho ProN"/>
                <a:cs typeface="Hiragino Mincho ProN"/>
              </a:rPr>
              <a:t>How to Ask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960120"/>
            <a:ext cx="1078992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>
                <a:solidFill>
                  <a:srgbClr val="333333"/>
                </a:solidFill>
                <a:latin typeface="Hiragino Mincho ProN"/>
                <a:ea typeface="Hiragino Mincho ProN"/>
                <a:cs typeface="Hiragino Mincho ProN"/>
              </a:rPr>
              <a:t>AIには、こう頼みます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874519"/>
            <a:ext cx="1005840" cy="38100"/>
          </a:xfrm>
          <a:prstGeom prst="rect">
            <a:avLst/>
          </a:prstGeom>
          <a:solidFill>
            <a:srgbClr val="913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85800" y="2084831"/>
            <a:ext cx="107899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これは例です。今日みなさんから聞いた言葉で、この中身が決まります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" y="6181344"/>
            <a:ext cx="1389888" cy="51851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logo_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6272784"/>
            <a:ext cx="1207008" cy="33563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0789920" y="6355080"/>
            <a:ext cx="7315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5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9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" y="2606040"/>
            <a:ext cx="6675120" cy="3291840"/>
          </a:xfrm>
          <a:prstGeom prst="rect">
            <a:avLst/>
          </a:prstGeom>
          <a:solidFill>
            <a:srgbClr val="2B25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960120" y="2907792"/>
            <a:ext cx="6217920" cy="2834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400" b="0">
                <a:solidFill>
                  <a:srgbClr val="E8E3EE"/>
                </a:solidFill>
                <a:latin typeface="Hiragino Kaku Gothic ProN"/>
                <a:ea typeface="Hiragino Kaku Gothic ProN"/>
                <a:cs typeface="Hiragino Kaku Gothic ProN"/>
              </a:rPr>
              <a:t>日大習志野高校の1年生に聞いた内容を、</a:t>
            </a:r>
          </a:p>
          <a:p>
            <a:pPr>
              <a:lnSpc>
                <a:spcPct val="155000"/>
              </a:lnSpc>
            </a:pPr>
            <a:r>
              <a:rPr sz="1400" b="0">
                <a:solidFill>
                  <a:srgbClr val="E8E3EE"/>
                </a:solidFill>
                <a:latin typeface="Hiragino Kaku Gothic ProN"/>
                <a:ea typeface="Hiragino Kaku Gothic ProN"/>
                <a:cs typeface="Hiragino Kaku Gothic ProN"/>
              </a:rPr>
              <a:t>サイトに反映してください。</a:t>
            </a:r>
          </a:p>
          <a:p>
            <a:pPr>
              <a:lnSpc>
                <a:spcPct val="155000"/>
              </a:lnSpc>
            </a:pPr>
            <a:r>
              <a:rPr sz="1400" b="0">
                <a:solidFill>
                  <a:srgbClr val="E8E3EE"/>
                </a:solidFill>
                <a:latin typeface="Hiragino Kaku Gothic ProN"/>
                <a:ea typeface="Hiragino Kaku Gothic ProN"/>
                <a:cs typeface="Hiragino Kaku Gothic ProN"/>
              </a:rPr>
              <a:t>　</a:t>
            </a:r>
          </a:p>
          <a:p>
            <a:pPr>
              <a:lnSpc>
                <a:spcPct val="155000"/>
              </a:lnSpc>
            </a:pPr>
            <a:r>
              <a:rPr sz="1400" b="0">
                <a:solidFill>
                  <a:srgbClr val="E8E3EE"/>
                </a:solidFill>
                <a:latin typeface="Hiragino Kaku Gothic ProN"/>
                <a:ea typeface="Hiragino Kaku Gothic ProN"/>
                <a:cs typeface="Hiragino Kaku Gothic ProN"/>
              </a:rPr>
              <a:t>・魅力の3つを「人工芝」「売店」「図書室」にする</a:t>
            </a:r>
          </a:p>
          <a:p>
            <a:pPr>
              <a:lnSpc>
                <a:spcPct val="155000"/>
              </a:lnSpc>
            </a:pPr>
            <a:r>
              <a:rPr sz="1400" b="0">
                <a:solidFill>
                  <a:srgbClr val="E8E3EE"/>
                </a:solidFill>
                <a:latin typeface="Hiragino Kaku Gothic ProN"/>
                <a:ea typeface="Hiragino Kaku Gothic ProN"/>
                <a:cs typeface="Hiragino Kaku Gothic ProN"/>
              </a:rPr>
              <a:t>・生徒の声を、次の3つの言葉に差し替える</a:t>
            </a:r>
          </a:p>
          <a:p>
            <a:pPr>
              <a:lnSpc>
                <a:spcPct val="155000"/>
              </a:lnSpc>
            </a:pPr>
            <a:r>
              <a:rPr sz="1400" b="0">
                <a:solidFill>
                  <a:srgbClr val="E8E3EE"/>
                </a:solidFill>
                <a:latin typeface="Hiragino Kaku Gothic ProN"/>
                <a:ea typeface="Hiragino Kaku Gothic ProN"/>
                <a:cs typeface="Hiragino Kaku Gothic ProN"/>
              </a:rPr>
              <a:t>・テーマの色を青系にする</a:t>
            </a:r>
          </a:p>
          <a:p>
            <a:pPr>
              <a:lnSpc>
                <a:spcPct val="155000"/>
              </a:lnSpc>
            </a:pPr>
            <a:r>
              <a:rPr sz="1400" b="0">
                <a:solidFill>
                  <a:srgbClr val="E8E3EE"/>
                </a:solidFill>
                <a:latin typeface="Hiragino Kaku Gothic ProN"/>
                <a:ea typeface="Hiragino Kaku Gothic ProN"/>
                <a:cs typeface="Hiragino Kaku Gothic ProN"/>
              </a:rPr>
              <a:t>・ゲームの敵の名前を「小テスト」「宿題」にする</a:t>
            </a:r>
          </a:p>
          <a:p>
            <a:pPr>
              <a:lnSpc>
                <a:spcPct val="155000"/>
              </a:lnSpc>
            </a:pPr>
            <a:r>
              <a:rPr sz="1400" b="0">
                <a:solidFill>
                  <a:srgbClr val="E8E3EE"/>
                </a:solidFill>
                <a:latin typeface="Hiragino Kaku Gothic ProN"/>
                <a:ea typeface="Hiragino Kaku Gothic ProN"/>
                <a:cs typeface="Hiragino Kaku Gothic ProN"/>
              </a:rPr>
              <a:t>・ゲームにジャンプ台をもう1つ足す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0" y="2834640"/>
            <a:ext cx="3749039" cy="3017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1">
                <a:solidFill>
                  <a:srgbClr val="91377D"/>
                </a:solidFill>
                <a:latin typeface="Hiragino Kaku Gothic ProN"/>
                <a:ea typeface="Hiragino Kaku Gothic ProN"/>
                <a:cs typeface="Hiragino Kaku Gothic ProN"/>
              </a:rPr>
              <a:t>聞いた言葉を、そのまま渡す</a:t>
            </a:r>
          </a:p>
          <a:p>
            <a:pPr>
              <a:lnSpc>
                <a:spcPct val="150000"/>
              </a:lnSpc>
              <a:spcBef>
                <a:spcPts val="400"/>
              </a:spcBef>
            </a:pPr>
            <a:r>
              <a:rPr sz="130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「いい感じにして」では伝わらない</a:t>
            </a:r>
          </a:p>
          <a:p>
            <a:pPr>
              <a:spcBef>
                <a:spcPts val="2600"/>
              </a:spcBef>
            </a:pPr>
            <a:r>
              <a:rPr sz="1700" b="1">
                <a:solidFill>
                  <a:srgbClr val="91377D"/>
                </a:solidFill>
                <a:latin typeface="Hiragino Kaku Gothic ProN"/>
                <a:ea typeface="Hiragino Kaku Gothic ProN"/>
                <a:cs typeface="Hiragino Kaku Gothic ProN"/>
              </a:rPr>
              <a:t>どこを変えるか、名指しする</a:t>
            </a:r>
          </a:p>
          <a:p>
            <a:pPr>
              <a:lnSpc>
                <a:spcPct val="150000"/>
              </a:lnSpc>
              <a:spcBef>
                <a:spcPts val="400"/>
              </a:spcBef>
            </a:pPr>
            <a:r>
              <a:rPr sz="130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変えてほしい場所をはっきり言う</a:t>
            </a:r>
          </a:p>
          <a:p>
            <a:pPr>
              <a:spcBef>
                <a:spcPts val="2600"/>
              </a:spcBef>
            </a:pPr>
            <a:r>
              <a:rPr sz="1700" b="1">
                <a:solidFill>
                  <a:srgbClr val="91377D"/>
                </a:solidFill>
                <a:latin typeface="Hiragino Kaku Gothic ProN"/>
                <a:ea typeface="Hiragino Kaku Gothic ProN"/>
                <a:cs typeface="Hiragino Kaku Gothic ProN"/>
              </a:rPr>
              <a:t>出てきたものを見て、言い直す</a:t>
            </a:r>
          </a:p>
          <a:p>
            <a:pPr>
              <a:lnSpc>
                <a:spcPct val="150000"/>
              </a:lnSpc>
              <a:spcBef>
                <a:spcPts val="400"/>
              </a:spcBef>
            </a:pPr>
            <a:r>
              <a:rPr sz="130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一度で決まらない。それがふつう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91377D"/>
              </a:gs>
              <a:gs pos="100000">
                <a:srgbClr val="593FBF"/>
              </a:gs>
            </a:gsLst>
            <a:lin ang="20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005840" y="1965960"/>
            <a:ext cx="102412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 spc="320">
                <a:solidFill>
                  <a:srgbClr val="FFFFFF"/>
                </a:solidFill>
                <a:latin typeface="Hiragino Mincho ProN"/>
                <a:ea typeface="Hiragino Mincho ProN"/>
                <a:cs typeface="Hiragino Mincho ProN"/>
              </a:rPr>
              <a:t>Why It Matters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514600"/>
            <a:ext cx="10241280" cy="2011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4600" b="1">
                <a:solidFill>
                  <a:srgbClr val="FFFFFF"/>
                </a:solidFill>
                <a:latin typeface="Hiragino Mincho ProN"/>
                <a:ea typeface="Hiragino Mincho ProN"/>
                <a:cs typeface="Hiragino Mincho ProN"/>
              </a:rPr>
              <a:t>AIと対話できる人が、必要になる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4663440"/>
            <a:ext cx="96012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1600" b="0">
                <a:solidFill>
                  <a:srgbClr val="FFFFFF"/>
                </a:solidFill>
                <a:latin typeface="Hiragino Kaku Gothic ProN"/>
                <a:ea typeface="Hiragino Kaku Gothic ProN"/>
                <a:cs typeface="Hiragino Kaku Gothic ProN"/>
              </a:rPr>
              <a:t>うまく頼む。出てきたものを確かめる。ちがえば、ちがうと言って直させる。この往復ができる人です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6181344"/>
            <a:ext cx="1389888" cy="51851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Picture 6" descr="logo_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6272784"/>
            <a:ext cx="1207008" cy="33563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0789920" y="6355080"/>
            <a:ext cx="7315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50" b="0">
                <a:solidFill>
                  <a:srgbClr val="FFFFFF"/>
                </a:solidFill>
                <a:latin typeface="Hiragino Kaku Gothic ProN"/>
                <a:ea typeface="Hiragino Kaku Gothic ProN"/>
                <a:cs typeface="Hiragino Kaku Gothic ProN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85800" y="475488"/>
            <a:ext cx="73152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spc="320">
                <a:solidFill>
                  <a:srgbClr val="91377D"/>
                </a:solidFill>
                <a:latin typeface="Hiragino Mincho ProN"/>
                <a:ea typeface="Hiragino Mincho ProN"/>
                <a:cs typeface="Hiragino Mincho ProN"/>
              </a:rPr>
              <a:t>Dialogue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960120"/>
            <a:ext cx="1078992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>
                <a:solidFill>
                  <a:srgbClr val="333333"/>
                </a:solidFill>
                <a:latin typeface="Hiragino Mincho ProN"/>
                <a:ea typeface="Hiragino Mincho ProN"/>
                <a:cs typeface="Hiragino Mincho ProN"/>
              </a:rPr>
              <a:t>このミニ講義も、AIとの対話で作りました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874519"/>
            <a:ext cx="1005840" cy="38100"/>
          </a:xfrm>
          <a:prstGeom prst="rect">
            <a:avLst/>
          </a:prstGeom>
          <a:solidFill>
            <a:srgbClr val="913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85800" y="2084831"/>
            <a:ext cx="107899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きのうの1時間40分。作業の記録（Gitの履歴）から、そのままの時刻です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" y="6181344"/>
            <a:ext cx="1389888" cy="51851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logo_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6272784"/>
            <a:ext cx="1207008" cy="33563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0789920" y="6355080"/>
            <a:ext cx="7315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5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11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" y="2578608"/>
            <a:ext cx="38100" cy="384048"/>
          </a:xfrm>
          <a:prstGeom prst="rect">
            <a:avLst/>
          </a:prstGeom>
          <a:solidFill>
            <a:srgbClr val="913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932688" y="2523744"/>
            <a:ext cx="868680" cy="4389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00" b="1">
                <a:solidFill>
                  <a:srgbClr val="91377D"/>
                </a:solidFill>
                <a:latin typeface="Menlo"/>
                <a:ea typeface="Menlo"/>
                <a:cs typeface="Menlo"/>
              </a:rPr>
              <a:t>12:36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2523744"/>
            <a:ext cx="5120640" cy="4389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500" b="0">
                <a:solidFill>
                  <a:srgbClr val="333333"/>
                </a:solidFill>
                <a:latin typeface="Hiragino Kaku Gothic ProN"/>
                <a:ea typeface="Hiragino Kaku Gothic ProN"/>
                <a:cs typeface="Hiragino Kaku Gothic ProN"/>
              </a:rPr>
              <a:t>「20分ずつ、2回。リポジトリを分けて作って」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69480" y="2523744"/>
            <a:ext cx="457200" cy="4389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0">
                <a:solidFill>
                  <a:srgbClr val="91377D"/>
                </a:solidFill>
                <a:latin typeface="Hiragino Kaku Gothic ProN"/>
                <a:ea typeface="Hiragino Kaku Gothic ProN"/>
                <a:cs typeface="Hiragino Kaku Gothic ProN"/>
              </a:rPr>
              <a:t>▶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0" y="2523744"/>
            <a:ext cx="3749039" cy="4389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0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日習のサイトの下地ができた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85800" y="3127248"/>
            <a:ext cx="38100" cy="384048"/>
          </a:xfrm>
          <a:prstGeom prst="rect">
            <a:avLst/>
          </a:prstGeom>
          <a:solidFill>
            <a:srgbClr val="913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932688" y="3072384"/>
            <a:ext cx="868680" cy="4389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00" b="1">
                <a:solidFill>
                  <a:srgbClr val="91377D"/>
                </a:solidFill>
                <a:latin typeface="Menlo"/>
                <a:ea typeface="Menlo"/>
                <a:cs typeface="Menlo"/>
              </a:rPr>
              <a:t>13:00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920240" y="3072384"/>
            <a:ext cx="5120640" cy="4389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500" b="0">
                <a:solidFill>
                  <a:srgbClr val="333333"/>
                </a:solidFill>
                <a:latin typeface="Hiragino Kaku Gothic ProN"/>
                <a:ea typeface="Hiragino Kaku Gothic ProN"/>
                <a:cs typeface="Hiragino Kaku Gothic ProN"/>
              </a:rPr>
              <a:t>「いかにもAIが作ったサイト。作り直して」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69480" y="3072384"/>
            <a:ext cx="457200" cy="4389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0">
                <a:solidFill>
                  <a:srgbClr val="91377D"/>
                </a:solidFill>
                <a:latin typeface="Hiragino Kaku Gothic ProN"/>
                <a:ea typeface="Hiragino Kaku Gothic ProN"/>
                <a:cs typeface="Hiragino Kaku Gothic ProN"/>
              </a:rPr>
              <a:t>▶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0" y="3072384"/>
            <a:ext cx="3749039" cy="4389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0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デザインを全部組み直した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85800" y="3675888"/>
            <a:ext cx="38100" cy="384048"/>
          </a:xfrm>
          <a:prstGeom prst="rect">
            <a:avLst/>
          </a:prstGeom>
          <a:solidFill>
            <a:srgbClr val="913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932688" y="3621024"/>
            <a:ext cx="868680" cy="4389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00" b="1">
                <a:solidFill>
                  <a:srgbClr val="91377D"/>
                </a:solidFill>
                <a:latin typeface="Menlo"/>
                <a:ea typeface="Menlo"/>
                <a:cs typeface="Menlo"/>
              </a:rPr>
              <a:t>13:32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20240" y="3621024"/>
            <a:ext cx="5120640" cy="4389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500" b="0">
                <a:solidFill>
                  <a:srgbClr val="333333"/>
                </a:solidFill>
                <a:latin typeface="Hiragino Kaku Gothic ProN"/>
                <a:ea typeface="Hiragino Kaku Gothic ProN"/>
                <a:cs typeface="Hiragino Kaku Gothic ProN"/>
              </a:rPr>
              <a:t>「ゲームが単調。もっと本格的に」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269480" y="3621024"/>
            <a:ext cx="457200" cy="4389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0">
                <a:solidFill>
                  <a:srgbClr val="91377D"/>
                </a:solidFill>
                <a:latin typeface="Hiragino Kaku Gothic ProN"/>
                <a:ea typeface="Hiragino Kaku Gothic ProN"/>
                <a:cs typeface="Hiragino Kaku Gothic ProN"/>
              </a:rPr>
              <a:t>▶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0" y="3621024"/>
            <a:ext cx="3749039" cy="4389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0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3ステージのアクションゲームになった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85800" y="4224528"/>
            <a:ext cx="38100" cy="384048"/>
          </a:xfrm>
          <a:prstGeom prst="rect">
            <a:avLst/>
          </a:prstGeom>
          <a:solidFill>
            <a:srgbClr val="913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932688" y="4169664"/>
            <a:ext cx="868680" cy="4389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00" b="1">
                <a:solidFill>
                  <a:srgbClr val="91377D"/>
                </a:solidFill>
                <a:latin typeface="Menlo"/>
                <a:ea typeface="Menlo"/>
                <a:cs typeface="Menlo"/>
              </a:rPr>
              <a:t>13:45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920240" y="4169664"/>
            <a:ext cx="5120640" cy="4389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500" b="0" dirty="0">
                <a:solidFill>
                  <a:srgbClr val="333333"/>
                </a:solidFill>
                <a:latin typeface="Hiragino Kaku Gothic ProN"/>
                <a:ea typeface="Hiragino Kaku Gothic ProN"/>
                <a:cs typeface="Hiragino Kaku Gothic ProN"/>
              </a:rPr>
              <a:t>「</a:t>
            </a:r>
            <a:r>
              <a:rPr sz="1500" b="0" dirty="0" err="1">
                <a:solidFill>
                  <a:srgbClr val="333333"/>
                </a:solidFill>
                <a:latin typeface="Hiragino Kaku Gothic ProN"/>
                <a:ea typeface="Hiragino Kaku Gothic ProN"/>
                <a:cs typeface="Hiragino Kaku Gothic ProN"/>
              </a:rPr>
              <a:t>ゲームが動かない。直して</a:t>
            </a:r>
            <a:r>
              <a:rPr sz="1500" b="0" dirty="0">
                <a:solidFill>
                  <a:srgbClr val="333333"/>
                </a:solidFill>
                <a:latin typeface="Hiragino Kaku Gothic ProN"/>
                <a:ea typeface="Hiragino Kaku Gothic ProN"/>
                <a:cs typeface="Hiragino Kaku Gothic ProN"/>
              </a:rPr>
              <a:t>」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269480" y="4169664"/>
            <a:ext cx="457200" cy="4389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0">
                <a:solidFill>
                  <a:srgbClr val="91377D"/>
                </a:solidFill>
                <a:latin typeface="Hiragino Kaku Gothic ProN"/>
                <a:ea typeface="Hiragino Kaku Gothic ProN"/>
                <a:cs typeface="Hiragino Kaku Gothic ProN"/>
              </a:rPr>
              <a:t>▶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2400" y="4169664"/>
            <a:ext cx="3749039" cy="4389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0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バグを見つけて直した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85800" y="4773168"/>
            <a:ext cx="38100" cy="384048"/>
          </a:xfrm>
          <a:prstGeom prst="rect">
            <a:avLst/>
          </a:prstGeom>
          <a:solidFill>
            <a:srgbClr val="913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932688" y="4718304"/>
            <a:ext cx="868680" cy="4389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00" b="1">
                <a:solidFill>
                  <a:srgbClr val="91377D"/>
                </a:solidFill>
                <a:latin typeface="Menlo"/>
                <a:ea typeface="Menlo"/>
                <a:cs typeface="Menlo"/>
              </a:rPr>
              <a:t>14:13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920240" y="4718304"/>
            <a:ext cx="5120640" cy="4389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500" b="0">
                <a:solidFill>
                  <a:srgbClr val="333333"/>
                </a:solidFill>
                <a:latin typeface="Hiragino Kaku Gothic ProN"/>
                <a:ea typeface="Hiragino Kaku Gothic ProN"/>
                <a:cs typeface="Hiragino Kaku Gothic ProN"/>
              </a:rPr>
              <a:t>「スライドを作って」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269480" y="4718304"/>
            <a:ext cx="457200" cy="4389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0">
                <a:solidFill>
                  <a:srgbClr val="91377D"/>
                </a:solidFill>
                <a:latin typeface="Hiragino Kaku Gothic ProN"/>
                <a:ea typeface="Hiragino Kaku Gothic ProN"/>
                <a:cs typeface="Hiragino Kaku Gothic ProN"/>
              </a:rPr>
              <a:t>▶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72400" y="4718304"/>
            <a:ext cx="3749039" cy="4389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0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この18枚ができた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85800" y="5321808"/>
            <a:ext cx="38100" cy="384048"/>
          </a:xfrm>
          <a:prstGeom prst="rect">
            <a:avLst/>
          </a:prstGeom>
          <a:solidFill>
            <a:srgbClr val="913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932688" y="5266944"/>
            <a:ext cx="868680" cy="4389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00" b="1">
                <a:solidFill>
                  <a:srgbClr val="91377D"/>
                </a:solidFill>
                <a:latin typeface="Menlo"/>
                <a:ea typeface="Menlo"/>
                <a:cs typeface="Menlo"/>
              </a:rPr>
              <a:t>いま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920240" y="5266944"/>
            <a:ext cx="5120640" cy="4389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500" b="0">
                <a:solidFill>
                  <a:srgbClr val="333333"/>
                </a:solidFill>
                <a:latin typeface="Hiragino Kaku Gothic ProN"/>
                <a:ea typeface="Hiragino Kaku Gothic ProN"/>
                <a:cs typeface="Hiragino Kaku Gothic ProN"/>
              </a:rPr>
              <a:t>「4枚目の丸が変」「この説明は分からない」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269480" y="5266944"/>
            <a:ext cx="457200" cy="4389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0">
                <a:solidFill>
                  <a:srgbClr val="91377D"/>
                </a:solidFill>
                <a:latin typeface="Hiragino Kaku Gothic ProN"/>
                <a:ea typeface="Hiragino Kaku Gothic ProN"/>
                <a:cs typeface="Hiragino Kaku Gothic ProN"/>
              </a:rPr>
              <a:t>▶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772400" y="5266944"/>
            <a:ext cx="3749039" cy="4389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0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その指摘で、今このページを直した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85800" y="5788152"/>
            <a:ext cx="107899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>
                <a:solidFill>
                  <a:srgbClr val="91377D"/>
                </a:solidFill>
                <a:latin typeface="Hiragino Kaku Gothic ProN"/>
                <a:ea typeface="Hiragino Kaku Gothic ProN"/>
                <a:cs typeface="Hiragino Kaku Gothic ProN"/>
              </a:rPr>
              <a:t>うまくいかない、と言い続けたのは人間です。AIは言われるまで気づきませんでした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85800" y="475488"/>
            <a:ext cx="73152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spc="320">
                <a:solidFill>
                  <a:srgbClr val="91377D"/>
                </a:solidFill>
                <a:latin typeface="Hiragino Mincho ProN"/>
                <a:ea typeface="Hiragino Mincho ProN"/>
                <a:cs typeface="Hiragino Mincho ProN"/>
              </a:rPr>
              <a:t>Your Future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960120"/>
            <a:ext cx="1078992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>
                <a:solidFill>
                  <a:srgbClr val="333333"/>
                </a:solidFill>
                <a:latin typeface="Hiragino Mincho ProN"/>
                <a:ea typeface="Hiragino Mincho ProN"/>
                <a:cs typeface="Hiragino Mincho ProN"/>
              </a:rPr>
              <a:t>3年後、みなさんは大学生。7年後、働いています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874519"/>
            <a:ext cx="1005840" cy="38100"/>
          </a:xfrm>
          <a:prstGeom prst="rect">
            <a:avLst/>
          </a:prstGeom>
          <a:solidFill>
            <a:srgbClr val="913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594360" y="6181344"/>
            <a:ext cx="1389888" cy="51851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Picture 6" descr="logo_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6272784"/>
            <a:ext cx="1207008" cy="33563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0789920" y="6355080"/>
            <a:ext cx="7315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5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12</a:t>
            </a:r>
          </a:p>
        </p:txBody>
      </p:sp>
      <p:sp>
        <p:nvSpPr>
          <p:cNvPr id="9" name="Rectangle 8"/>
          <p:cNvSpPr/>
          <p:nvPr/>
        </p:nvSpPr>
        <p:spPr>
          <a:xfrm>
            <a:off x="1280160" y="3566160"/>
            <a:ext cx="9601200" cy="38100"/>
          </a:xfrm>
          <a:prstGeom prst="rect">
            <a:avLst/>
          </a:prstGeom>
          <a:solidFill>
            <a:srgbClr val="D9D3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1783080" y="3401568"/>
            <a:ext cx="201168" cy="201168"/>
          </a:xfrm>
          <a:prstGeom prst="ellipse">
            <a:avLst/>
          </a:prstGeom>
          <a:solidFill>
            <a:srgbClr val="913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280160" y="2697480"/>
            <a:ext cx="23774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3400" b="1" spc="100">
                <a:solidFill>
                  <a:srgbClr val="91377D"/>
                </a:solidFill>
                <a:latin typeface="Hiragino Mincho ProN"/>
                <a:ea typeface="Hiragino Mincho ProN"/>
                <a:cs typeface="Hiragino Mincho ProN"/>
              </a:rPr>
              <a:t>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3886200"/>
            <a:ext cx="237744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50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今日</a:t>
            </a:r>
          </a:p>
          <a:p>
            <a:pPr>
              <a:spcBef>
                <a:spcPts val="600"/>
              </a:spcBef>
            </a:pPr>
            <a:r>
              <a:rPr sz="2200" b="1">
                <a:solidFill>
                  <a:srgbClr val="333333"/>
                </a:solidFill>
                <a:latin typeface="Hiragino Mincho ProN"/>
                <a:ea typeface="Hiragino Mincho ProN"/>
                <a:cs typeface="Hiragino Mincho ProN"/>
              </a:rPr>
              <a:t>高校1年生</a:t>
            </a:r>
          </a:p>
        </p:txBody>
      </p:sp>
      <p:sp>
        <p:nvSpPr>
          <p:cNvPr id="13" name="Oval 12"/>
          <p:cNvSpPr/>
          <p:nvPr/>
        </p:nvSpPr>
        <p:spPr>
          <a:xfrm>
            <a:off x="5212080" y="3401568"/>
            <a:ext cx="201168" cy="201168"/>
          </a:xfrm>
          <a:prstGeom prst="ellipse">
            <a:avLst/>
          </a:prstGeom>
          <a:solidFill>
            <a:srgbClr val="913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709160" y="2697480"/>
            <a:ext cx="23774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3400" b="1" spc="100">
                <a:solidFill>
                  <a:srgbClr val="91377D"/>
                </a:solidFill>
                <a:latin typeface="Hiragino Mincho ProN"/>
                <a:ea typeface="Hiragino Mincho ProN"/>
                <a:cs typeface="Hiragino Mincho ProN"/>
              </a:rPr>
              <a:t>2029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09160" y="3886200"/>
            <a:ext cx="237744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50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3年後</a:t>
            </a:r>
          </a:p>
          <a:p>
            <a:pPr>
              <a:spcBef>
                <a:spcPts val="600"/>
              </a:spcBef>
            </a:pPr>
            <a:r>
              <a:rPr sz="2200" b="1">
                <a:solidFill>
                  <a:srgbClr val="333333"/>
                </a:solidFill>
                <a:latin typeface="Hiragino Mincho ProN"/>
                <a:ea typeface="Hiragino Mincho ProN"/>
                <a:cs typeface="Hiragino Mincho ProN"/>
              </a:rPr>
              <a:t>大学に入る</a:t>
            </a:r>
          </a:p>
        </p:txBody>
      </p:sp>
      <p:sp>
        <p:nvSpPr>
          <p:cNvPr id="16" name="Oval 15"/>
          <p:cNvSpPr/>
          <p:nvPr/>
        </p:nvSpPr>
        <p:spPr>
          <a:xfrm>
            <a:off x="8641080" y="3401568"/>
            <a:ext cx="201168" cy="201168"/>
          </a:xfrm>
          <a:prstGeom prst="ellipse">
            <a:avLst/>
          </a:prstGeom>
          <a:solidFill>
            <a:srgbClr val="913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138160" y="2697480"/>
            <a:ext cx="23774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3400" b="1" spc="100">
                <a:solidFill>
                  <a:srgbClr val="91377D"/>
                </a:solidFill>
                <a:latin typeface="Hiragino Mincho ProN"/>
                <a:ea typeface="Hiragino Mincho ProN"/>
                <a:cs typeface="Hiragino Mincho ProN"/>
              </a:rPr>
              <a:t>2033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38160" y="3886200"/>
            <a:ext cx="237744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50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7年後</a:t>
            </a:r>
          </a:p>
          <a:p>
            <a:pPr>
              <a:spcBef>
                <a:spcPts val="600"/>
              </a:spcBef>
            </a:pPr>
            <a:r>
              <a:rPr sz="1700" b="1">
                <a:solidFill>
                  <a:srgbClr val="333333"/>
                </a:solidFill>
                <a:latin typeface="Hiragino Mincho ProN"/>
                <a:ea typeface="Hiragino Mincho ProN"/>
                <a:cs typeface="Hiragino Mincho ProN"/>
              </a:rPr>
              <a:t>就職、または大学院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5349240"/>
            <a:ext cx="1078992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0">
                <a:solidFill>
                  <a:srgbClr val="333333"/>
                </a:solidFill>
                <a:latin typeface="Hiragino Kaku Gothic ProN"/>
                <a:ea typeface="Hiragino Kaku Gothic ProN"/>
                <a:cs typeface="Hiragino Kaku Gothic ProN"/>
              </a:rPr>
              <a:t>そのころAIが何をできるようになっているか、私にも分かりません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85800" y="475488"/>
            <a:ext cx="73152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spc="320">
                <a:solidFill>
                  <a:srgbClr val="91377D"/>
                </a:solidFill>
                <a:latin typeface="Hiragino Mincho ProN"/>
                <a:ea typeface="Hiragino Mincho ProN"/>
                <a:cs typeface="Hiragino Mincho ProN"/>
              </a:rPr>
              <a:t>How Fast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960120"/>
            <a:ext cx="1078992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>
                <a:solidFill>
                  <a:srgbClr val="333333"/>
                </a:solidFill>
                <a:latin typeface="Hiragino Mincho ProN"/>
                <a:ea typeface="Hiragino Mincho ProN"/>
                <a:cs typeface="Hiragino Mincho ProN"/>
              </a:rPr>
              <a:t>半年かかったことが、いまは数十分です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874519"/>
            <a:ext cx="1005840" cy="38100"/>
          </a:xfrm>
          <a:prstGeom prst="rect">
            <a:avLst/>
          </a:prstGeom>
          <a:solidFill>
            <a:srgbClr val="913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594360" y="6181344"/>
            <a:ext cx="1389888" cy="51851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Picture 6" descr="logo_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6272784"/>
            <a:ext cx="1207008" cy="33563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0789920" y="6355080"/>
            <a:ext cx="7315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5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13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2651760"/>
            <a:ext cx="3502152" cy="2514600"/>
          </a:xfrm>
          <a:prstGeom prst="rect">
            <a:avLst/>
          </a:prstGeom>
          <a:solidFill>
            <a:srgbClr val="F7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005840" y="2907792"/>
            <a:ext cx="2862072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>
                <a:solidFill>
                  <a:srgbClr val="91377D"/>
                </a:solidFill>
                <a:latin typeface="Hiragino Kaku Gothic ProN"/>
                <a:ea typeface="Hiragino Kaku Gothic ProN"/>
                <a:cs typeface="Hiragino Kaku Gothic ProN"/>
              </a:rPr>
              <a:t>6年前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364992"/>
            <a:ext cx="2862072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1">
                <a:solidFill>
                  <a:srgbClr val="333333"/>
                </a:solidFill>
                <a:latin typeface="Hiragino Mincho ProN"/>
                <a:ea typeface="Hiragino Mincho ProN"/>
                <a:cs typeface="Hiragino Mincho ProN"/>
              </a:rPr>
              <a:t>先輩たちの作品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4224528"/>
            <a:ext cx="2862072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135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Unityの使い方を覚えるところから始めて、半年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480560" y="2651760"/>
            <a:ext cx="3502152" cy="2514600"/>
          </a:xfrm>
          <a:prstGeom prst="rect">
            <a:avLst/>
          </a:prstGeom>
          <a:solidFill>
            <a:srgbClr val="F7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800600" y="2907792"/>
            <a:ext cx="2862072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>
                <a:solidFill>
                  <a:srgbClr val="91377D"/>
                </a:solidFill>
                <a:latin typeface="Hiragino Kaku Gothic ProN"/>
                <a:ea typeface="Hiragino Kaku Gothic ProN"/>
                <a:cs typeface="Hiragino Kaku Gothic ProN"/>
              </a:rPr>
              <a:t>2022年11月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00600" y="3364992"/>
            <a:ext cx="2862072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1">
                <a:solidFill>
                  <a:srgbClr val="333333"/>
                </a:solidFill>
                <a:latin typeface="Hiragino Mincho ProN"/>
                <a:ea typeface="Hiragino Mincho ProN"/>
                <a:cs typeface="Hiragino Mincho ProN"/>
              </a:rPr>
              <a:t>ChatGPTが公開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0600" y="4224528"/>
            <a:ext cx="2862072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135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そのころは、文章を書くのが中心だった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75320" y="2651760"/>
            <a:ext cx="3502152" cy="2514600"/>
          </a:xfrm>
          <a:prstGeom prst="rect">
            <a:avLst/>
          </a:prstGeom>
          <a:solidFill>
            <a:srgbClr val="913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595360" y="2907792"/>
            <a:ext cx="2862072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Hiragino Kaku Gothic ProN"/>
                <a:ea typeface="Hiragino Kaku Gothic ProN"/>
                <a:cs typeface="Hiragino Kaku Gothic ProN"/>
              </a:rPr>
              <a:t>2026年9月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95360" y="3364992"/>
            <a:ext cx="2862072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1">
                <a:solidFill>
                  <a:srgbClr val="FFFFFF"/>
                </a:solidFill>
                <a:latin typeface="Hiragino Mincho ProN"/>
                <a:ea typeface="Hiragino Mincho ProN"/>
                <a:cs typeface="Hiragino Mincho ProN"/>
              </a:rPr>
              <a:t>今日、この20分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95360" y="4224528"/>
            <a:ext cx="2862072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1350" b="0">
                <a:solidFill>
                  <a:srgbClr val="FFFFFF"/>
                </a:solidFill>
                <a:latin typeface="Hiragino Kaku Gothic ProN"/>
                <a:ea typeface="Hiragino Kaku Gothic ProN"/>
                <a:cs typeface="Hiragino Kaku Gothic ProN"/>
              </a:rPr>
              <a:t>話を聞いて、サイトを作って、公開できる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5440680"/>
            <a:ext cx="1078992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0">
                <a:solidFill>
                  <a:srgbClr val="333333"/>
                </a:solidFill>
                <a:latin typeface="Hiragino Kaku Gothic ProN"/>
                <a:ea typeface="Hiragino Kaku Gothic ProN"/>
                <a:cs typeface="Hiragino Kaku Gothic ProN"/>
              </a:rPr>
              <a:t>同じくらいのものなら、いまはAIと話しながら数十分でできてしまいます</a:t>
            </a:r>
          </a:p>
          <a:p>
            <a:pPr>
              <a:spcBef>
                <a:spcPts val="600"/>
              </a:spcBef>
            </a:pPr>
            <a:r>
              <a:rPr sz="1800" b="0">
                <a:solidFill>
                  <a:srgbClr val="333333"/>
                </a:solidFill>
                <a:latin typeface="Hiragino Kaku Gothic ProN"/>
                <a:ea typeface="Hiragino Kaku Gothic ProN"/>
                <a:cs typeface="Hiragino Kaku Gothic ProN"/>
              </a:rPr>
              <a:t>次の3年で何が起きるかは、誰にも分かりません。だから、いまのAIを自分で触ってみることです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85800" y="475488"/>
            <a:ext cx="73152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spc="320">
                <a:solidFill>
                  <a:srgbClr val="91377D"/>
                </a:solidFill>
                <a:latin typeface="Hiragino Mincho ProN"/>
                <a:ea typeface="Hiragino Mincho ProN"/>
                <a:cs typeface="Hiragino Mincho ProN"/>
              </a:rPr>
              <a:t>AI and You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960120"/>
            <a:ext cx="1078992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>
                <a:solidFill>
                  <a:srgbClr val="333333"/>
                </a:solidFill>
                <a:latin typeface="Hiragino Mincho ProN"/>
                <a:ea typeface="Hiragino Mincho ProN"/>
                <a:cs typeface="Hiragino Mincho ProN"/>
              </a:rPr>
              <a:t>今日、AIがやったこと。人間がやったこと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874519"/>
            <a:ext cx="1005840" cy="38100"/>
          </a:xfrm>
          <a:prstGeom prst="rect">
            <a:avLst/>
          </a:prstGeom>
          <a:solidFill>
            <a:srgbClr val="913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594360" y="6181344"/>
            <a:ext cx="1389888" cy="51851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Picture 6" descr="logo_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6272784"/>
            <a:ext cx="1207008" cy="33563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0789920" y="6355080"/>
            <a:ext cx="7315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5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14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2606040"/>
            <a:ext cx="5166360" cy="3154680"/>
          </a:xfrm>
          <a:prstGeom prst="rect">
            <a:avLst/>
          </a:prstGeom>
          <a:solidFill>
            <a:srgbClr val="F7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097280" y="2880360"/>
            <a:ext cx="448056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700" b="1" spc="200">
                <a:solidFill>
                  <a:srgbClr val="91377D"/>
                </a:solidFill>
                <a:latin typeface="Hiragino Mincho ProN"/>
                <a:ea typeface="Hiragino Mincho ProN"/>
                <a:cs typeface="Hiragino Mincho ProN"/>
              </a:rPr>
              <a:t>AI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3566160"/>
            <a:ext cx="4480560" cy="2103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78000"/>
              </a:lnSpc>
            </a:pPr>
            <a:r>
              <a:rPr sz="1600" b="0">
                <a:solidFill>
                  <a:srgbClr val="333333"/>
                </a:solidFill>
                <a:latin typeface="Hiragino Kaku Gothic ProN"/>
                <a:ea typeface="Hiragino Kaku Gothic ProN"/>
                <a:cs typeface="Hiragino Kaku Gothic ProN"/>
              </a:rPr>
              <a:t>・文章を書いた</a:t>
            </a:r>
          </a:p>
          <a:p>
            <a:pPr>
              <a:lnSpc>
                <a:spcPct val="178000"/>
              </a:lnSpc>
            </a:pPr>
            <a:r>
              <a:rPr sz="1600" b="0">
                <a:solidFill>
                  <a:srgbClr val="333333"/>
                </a:solidFill>
                <a:latin typeface="Hiragino Kaku Gothic ProN"/>
                <a:ea typeface="Hiragino Kaku Gothic ProN"/>
                <a:cs typeface="Hiragino Kaku Gothic ProN"/>
              </a:rPr>
              <a:t>・色を決めた</a:t>
            </a:r>
          </a:p>
          <a:p>
            <a:pPr>
              <a:lnSpc>
                <a:spcPct val="178000"/>
              </a:lnSpc>
            </a:pPr>
            <a:r>
              <a:rPr sz="1600" b="0">
                <a:solidFill>
                  <a:srgbClr val="333333"/>
                </a:solidFill>
                <a:latin typeface="Hiragino Kaku Gothic ProN"/>
                <a:ea typeface="Hiragino Kaku Gothic ProN"/>
                <a:cs typeface="Hiragino Kaku Gothic ProN"/>
              </a:rPr>
              <a:t>・コードを書いた</a:t>
            </a:r>
          </a:p>
          <a:p>
            <a:pPr>
              <a:lnSpc>
                <a:spcPct val="178000"/>
              </a:lnSpc>
            </a:pPr>
            <a:r>
              <a:rPr sz="1600" b="0">
                <a:solidFill>
                  <a:srgbClr val="333333"/>
                </a:solidFill>
                <a:latin typeface="Hiragino Kaku Gothic ProN"/>
                <a:ea typeface="Hiragino Kaku Gothic ProN"/>
                <a:cs typeface="Hiragino Kaku Gothic ProN"/>
              </a:rPr>
              <a:t>・ゲームのステージを作った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09360" y="2606040"/>
            <a:ext cx="5166360" cy="3154680"/>
          </a:xfrm>
          <a:prstGeom prst="rect">
            <a:avLst/>
          </a:prstGeom>
          <a:solidFill>
            <a:srgbClr val="913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720840" y="2880360"/>
            <a:ext cx="448056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700" b="1" spc="200">
                <a:solidFill>
                  <a:srgbClr val="FFFFFF"/>
                </a:solidFill>
                <a:latin typeface="Hiragino Mincho ProN"/>
                <a:ea typeface="Hiragino Mincho ProN"/>
                <a:cs typeface="Hiragino Mincho ProN"/>
              </a:rPr>
              <a:t>人間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20840" y="3566160"/>
            <a:ext cx="4480560" cy="2103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78000"/>
              </a:lnSpc>
            </a:pPr>
            <a:r>
              <a:rPr sz="1600" b="0">
                <a:solidFill>
                  <a:srgbClr val="FFFFFF"/>
                </a:solidFill>
                <a:latin typeface="Hiragino Kaku Gothic ProN"/>
                <a:ea typeface="Hiragino Kaku Gothic ProN"/>
                <a:cs typeface="Hiragino Kaku Gothic ProN"/>
              </a:rPr>
              <a:t>・何を作るか決めた</a:t>
            </a:r>
          </a:p>
          <a:p>
            <a:pPr>
              <a:lnSpc>
                <a:spcPct val="178000"/>
              </a:lnSpc>
            </a:pPr>
            <a:r>
              <a:rPr sz="1600" b="0">
                <a:solidFill>
                  <a:srgbClr val="FFFFFF"/>
                </a:solidFill>
                <a:latin typeface="Hiragino Kaku Gothic ProN"/>
                <a:ea typeface="Hiragino Kaku Gothic ProN"/>
                <a:cs typeface="Hiragino Kaku Gothic ProN"/>
              </a:rPr>
              <a:t>・みなさんに聞いた</a:t>
            </a:r>
          </a:p>
          <a:p>
            <a:pPr>
              <a:lnSpc>
                <a:spcPct val="178000"/>
              </a:lnSpc>
            </a:pPr>
            <a:r>
              <a:rPr sz="1600" b="0">
                <a:solidFill>
                  <a:srgbClr val="FFFFFF"/>
                </a:solidFill>
                <a:latin typeface="Hiragino Kaku Gothic ProN"/>
                <a:ea typeface="Hiragino Kaku Gothic ProN"/>
                <a:cs typeface="Hiragino Kaku Gothic ProN"/>
              </a:rPr>
              <a:t>・本当かどうか確かめた</a:t>
            </a:r>
          </a:p>
          <a:p>
            <a:pPr>
              <a:lnSpc>
                <a:spcPct val="178000"/>
              </a:lnSpc>
            </a:pPr>
            <a:r>
              <a:rPr sz="1600" b="0">
                <a:solidFill>
                  <a:srgbClr val="FFFFFF"/>
                </a:solidFill>
                <a:latin typeface="Hiragino Kaku Gothic ProN"/>
                <a:ea typeface="Hiragino Kaku Gothic ProN"/>
                <a:cs typeface="Hiragino Kaku Gothic ProN"/>
              </a:rPr>
              <a:t>・ちがうと言って直させた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5797296"/>
            <a:ext cx="107899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1">
                <a:solidFill>
                  <a:srgbClr val="91377D"/>
                </a:solidFill>
                <a:latin typeface="Hiragino Kaku Gothic ProN"/>
                <a:ea typeface="Hiragino Kaku Gothic ProN"/>
                <a:cs typeface="Hiragino Kaku Gothic ProN"/>
              </a:rPr>
              <a:t>AIは日習のことを何も知りませんでした。知っているのは、みなさんだけです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85800" y="475488"/>
            <a:ext cx="73152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spc="320">
                <a:solidFill>
                  <a:srgbClr val="91377D"/>
                </a:solidFill>
                <a:latin typeface="Hiragino Mincho ProN"/>
                <a:ea typeface="Hiragino Mincho ProN"/>
                <a:cs typeface="Hiragino Mincho ProN"/>
              </a:rPr>
              <a:t>Check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960120"/>
            <a:ext cx="1078992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>
                <a:solidFill>
                  <a:srgbClr val="333333"/>
                </a:solidFill>
                <a:latin typeface="Hiragino Mincho ProN"/>
                <a:ea typeface="Hiragino Mincho ProN"/>
                <a:cs typeface="Hiragino Mincho ProN"/>
              </a:rPr>
              <a:t>AIも間違えます。確かめるのは人間です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874519"/>
            <a:ext cx="1005840" cy="38100"/>
          </a:xfrm>
          <a:prstGeom prst="rect">
            <a:avLst/>
          </a:prstGeom>
          <a:solidFill>
            <a:srgbClr val="913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85800" y="2084831"/>
            <a:ext cx="107899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AIが作ったジャンプ台。押した長さでジャンプを低くする処理が、ジャンプ台の勢いまで消していました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" y="6181344"/>
            <a:ext cx="1389888" cy="51851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logo_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6272784"/>
            <a:ext cx="1207008" cy="33563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0789920" y="6355080"/>
            <a:ext cx="7315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5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15</a:t>
            </a:r>
          </a:p>
        </p:txBody>
      </p:sp>
      <p:pic>
        <p:nvPicPr>
          <p:cNvPr id="10" name="Picture 9" descr="bug_before_af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72786" y="2651760"/>
            <a:ext cx="9615948" cy="310896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85800" y="5797296"/>
            <a:ext cx="107899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>
                <a:solidFill>
                  <a:srgbClr val="91377D"/>
                </a:solidFill>
                <a:latin typeface="Hiragino Kaku Gothic ProN"/>
                <a:ea typeface="Hiragino Kaku Gothic ProN"/>
                <a:cs typeface="Hiragino Kaku Gothic ProN"/>
              </a:rPr>
              <a:t>私が動かして気づき、AIに修正を頼みました。確かめて直す。その中身を学ぶのが情報系の学科です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91377D"/>
              </a:gs>
              <a:gs pos="100000">
                <a:srgbClr val="593FBF"/>
              </a:gs>
            </a:gsLst>
            <a:lin ang="20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005840" y="960120"/>
            <a:ext cx="102412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 spc="320">
                <a:solidFill>
                  <a:srgbClr val="FFFFFF"/>
                </a:solidFill>
                <a:latin typeface="Hiragino Mincho ProN"/>
                <a:ea typeface="Hiragino Mincho ProN"/>
                <a:cs typeface="Hiragino Mincho ProN"/>
              </a:rPr>
              <a:t>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1463040"/>
            <a:ext cx="1024128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Hiragino Mincho ProN"/>
                <a:ea typeface="Hiragino Mincho ProN"/>
                <a:cs typeface="Hiragino Mincho ProN"/>
              </a:rPr>
              <a:t>今日、持って帰ってほしいこと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606040"/>
            <a:ext cx="9144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600" b="1" spc="200">
                <a:solidFill>
                  <a:srgbClr val="FFFFFF"/>
                </a:solidFill>
                <a:latin typeface="Hiragino Mincho ProN"/>
                <a:ea typeface="Hiragino Mincho ProN"/>
                <a:cs typeface="Hiragino Mincho ProN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0" y="2560320"/>
            <a:ext cx="914400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Hiragino Mincho ProN"/>
                <a:ea typeface="Hiragino Mincho ProN"/>
                <a:cs typeface="Hiragino Mincho ProN"/>
              </a:rPr>
              <a:t>いまのAIを、自分で触ってみる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11680" y="3081528"/>
            <a:ext cx="91440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Hiragino Kaku Gothic ProN"/>
                <a:ea typeface="Hiragino Kaku Gothic ProN"/>
                <a:cs typeface="Hiragino Kaku Gothic ProN"/>
              </a:rPr>
              <a:t>どこまでできて、どこができないかは、触らないと分からない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3776472"/>
            <a:ext cx="9144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600" b="1" spc="200">
                <a:solidFill>
                  <a:srgbClr val="FFFFFF"/>
                </a:solidFill>
                <a:latin typeface="Hiragino Mincho ProN"/>
                <a:ea typeface="Hiragino Mincho ProN"/>
                <a:cs typeface="Hiragino Mincho ProN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11680" y="3730752"/>
            <a:ext cx="914400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Hiragino Mincho ProN"/>
                <a:ea typeface="Hiragino Mincho ProN"/>
                <a:cs typeface="Hiragino Mincho ProN"/>
              </a:rPr>
              <a:t>何を作るか決めるのは、人間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11680" y="4251960"/>
            <a:ext cx="91440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Hiragino Kaku Gothic ProN"/>
                <a:ea typeface="Hiragino Kaku Gothic ProN"/>
                <a:cs typeface="Hiragino Kaku Gothic ProN"/>
              </a:rPr>
              <a:t>AIは日習を知らない。決めて、聞いて、確かめるのはみなさん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4946904"/>
            <a:ext cx="9144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600" b="1" spc="200">
                <a:solidFill>
                  <a:srgbClr val="FFFFFF"/>
                </a:solidFill>
                <a:latin typeface="Hiragino Mincho ProN"/>
                <a:ea typeface="Hiragino Mincho ProN"/>
                <a:cs typeface="Hiragino Mincho ProN"/>
              </a:rPr>
              <a:t>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11680" y="4901184"/>
            <a:ext cx="914400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Hiragino Mincho ProN"/>
                <a:ea typeface="Hiragino Mincho ProN"/>
                <a:cs typeface="Hiragino Mincho ProN"/>
              </a:rPr>
              <a:t>AIと対話できる人になる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11680" y="5422392"/>
            <a:ext cx="91440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Hiragino Kaku Gothic ProN"/>
                <a:ea typeface="Hiragino Kaku Gothic ProN"/>
                <a:cs typeface="Hiragino Kaku Gothic ProN"/>
              </a:rPr>
              <a:t>うまく頼み、確かめ、直させる。その中身を学ぶのが応用情報工学科です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4360" y="6181344"/>
            <a:ext cx="1389888" cy="51851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5" name="Picture 14" descr="logo_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6272784"/>
            <a:ext cx="1207008" cy="335638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0789920" y="6355080"/>
            <a:ext cx="7315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50" b="0">
                <a:solidFill>
                  <a:srgbClr val="FFFFFF"/>
                </a:solidFill>
                <a:latin typeface="Hiragino Kaku Gothic ProN"/>
                <a:ea typeface="Hiragino Kaku Gothic ProN"/>
                <a:cs typeface="Hiragino Kaku Gothic ProN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85800" y="475488"/>
            <a:ext cx="73152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spc="320">
                <a:solidFill>
                  <a:srgbClr val="91377D"/>
                </a:solidFill>
                <a:latin typeface="Hiragino Mincho ProN"/>
                <a:ea typeface="Hiragino Mincho ProN"/>
                <a:cs typeface="Hiragino Mincho ProN"/>
              </a:rPr>
              <a:t>Your Site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960120"/>
            <a:ext cx="1078992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>
                <a:solidFill>
                  <a:srgbClr val="333333"/>
                </a:solidFill>
                <a:latin typeface="Hiragino Mincho ProN"/>
                <a:ea typeface="Hiragino Mincho ProN"/>
                <a:cs typeface="Hiragino Mincho ProN"/>
              </a:rPr>
              <a:t>今日つくったサイトは、ここにあります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874519"/>
            <a:ext cx="1005840" cy="38100"/>
          </a:xfrm>
          <a:prstGeom prst="rect">
            <a:avLst/>
          </a:prstGeom>
          <a:solidFill>
            <a:srgbClr val="913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85800" y="2084831"/>
            <a:ext cx="107899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2回目のみなさんへ　放課後でも、家でも開けます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" y="6181344"/>
            <a:ext cx="1389888" cy="51851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logo_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6272784"/>
            <a:ext cx="1207008" cy="33563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0789920" y="6355080"/>
            <a:ext cx="7315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5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17</a:t>
            </a:r>
          </a:p>
        </p:txBody>
      </p:sp>
      <p:pic>
        <p:nvPicPr>
          <p:cNvPr id="10" name="Picture 9" descr="narashino-visit-2-q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34440" y="2606040"/>
            <a:ext cx="3017520" cy="30175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800600" y="3246120"/>
            <a:ext cx="676656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1">
                <a:solidFill>
                  <a:srgbClr val="91377D"/>
                </a:solidFill>
                <a:latin typeface="Menlo"/>
                <a:ea typeface="Menlo"/>
                <a:cs typeface="Menlo"/>
              </a:rPr>
              <a:t>https://yutakajssst.github.io/narashino-visit-2/</a:t>
            </a:r>
          </a:p>
          <a:p>
            <a:pPr>
              <a:spcBef>
                <a:spcPts val="1600"/>
              </a:spcBef>
            </a:pPr>
            <a:r>
              <a:rPr sz="150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スマホのカメラでQRコードを読んでください</a:t>
            </a:r>
          </a:p>
          <a:p>
            <a:pPr>
              <a:spcBef>
                <a:spcPts val="400"/>
              </a:spcBef>
            </a:pPr>
            <a:r>
              <a:rPr sz="150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みなさんの言葉が入ったページと、ミニゲームがあります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18</TotalTime>
  <Words>610</Words>
  <Application>Microsoft Macintosh PowerPoint</Application>
  <PresentationFormat>ワイド画面</PresentationFormat>
  <Paragraphs>181</Paragraphs>
  <Slides>17</Slides>
  <Notes>0</Notes>
  <HiddenSlides>0</HiddenSlides>
  <MMClips>1</MMClips>
  <ScaleCrop>false</ScaleCrop>
  <HeadingPairs>
    <vt:vector size="6" baseType="variant">
      <vt:variant>
        <vt:lpstr>使用されているフォント</vt:lpstr>
      </vt:variant>
      <vt:variant>
        <vt:i4>5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17</vt:i4>
      </vt:variant>
    </vt:vector>
  </HeadingPairs>
  <TitlesOfParts>
    <vt:vector size="23" baseType="lpstr">
      <vt:lpstr>Hiragino Kaku Gothic ProN</vt:lpstr>
      <vt:lpstr>Hiragino Mincho ProN</vt:lpstr>
      <vt:lpstr>Arial</vt:lpstr>
      <vt:lpstr>Calibri</vt:lpstr>
      <vt:lpstr>Menlo</vt:lpstr>
      <vt:lpstr>Office Theme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マツノユタカ</cp:lastModifiedBy>
  <cp:revision>2</cp:revision>
  <dcterms:created xsi:type="dcterms:W3CDTF">2013-01-27T09:14:16Z</dcterms:created>
  <dcterms:modified xsi:type="dcterms:W3CDTF">2026-09-08T02:15:55Z</dcterms:modified>
  <cp:category/>
</cp:coreProperties>
</file>